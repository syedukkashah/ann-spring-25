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Syne" panose="020B0604020202020204" charset="0"/>
      <p:regular r:id="rId13"/>
    </p:embeddedFont>
    <p:embeddedFont>
      <p:font typeface="Syne Extra Bold" panose="020B0604020202020204" charset="0"/>
      <p:regular r:id="rId14"/>
    </p:embeddedFont>
  </p:embeddedFontLst>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E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37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160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690098"/>
            <a:ext cx="7556421" cy="1701165"/>
          </a:xfrm>
          <a:prstGeom prst="rect">
            <a:avLst/>
          </a:prstGeom>
          <a:noFill/>
          <a:ln/>
        </p:spPr>
        <p:txBody>
          <a:bodyPr wrap="square" lIns="0" tIns="0" rIns="0" bIns="0" rtlCol="0" anchor="t"/>
          <a:lstStyle/>
          <a:p>
            <a:pPr marL="0" indent="0" algn="l">
              <a:lnSpc>
                <a:spcPts val="3300"/>
              </a:lnSpc>
              <a:buNone/>
            </a:pPr>
            <a:r>
              <a:rPr lang="en-US" sz="2650" b="1" dirty="0">
                <a:solidFill>
                  <a:srgbClr val="F0F4F1"/>
                </a:solidFill>
                <a:latin typeface="Syne Extra Bold" pitchFamily="34" charset="0"/>
                <a:ea typeface="Syne Extra Bold" pitchFamily="34" charset="-122"/>
                <a:cs typeface="Syne Extra Bold" pitchFamily="34" charset="-120"/>
              </a:rPr>
              <a:t>Loss Functions &amp; Evaluation Metrics for Visual Hallucination Detection in Urdu</a:t>
            </a:r>
            <a:endParaRPr lang="en-US" sz="2650" dirty="0"/>
          </a:p>
        </p:txBody>
      </p:sp>
      <p:sp>
        <p:nvSpPr>
          <p:cNvPr id="4" name="Text 1"/>
          <p:cNvSpPr/>
          <p:nvPr/>
        </p:nvSpPr>
        <p:spPr>
          <a:xfrm>
            <a:off x="6280190" y="4481989"/>
            <a:ext cx="5698331" cy="354330"/>
          </a:xfrm>
          <a:prstGeom prst="rect">
            <a:avLst/>
          </a:prstGeom>
          <a:noFill/>
          <a:ln/>
        </p:spPr>
        <p:txBody>
          <a:bodyPr wrap="none" lIns="0" tIns="0" rIns="0" bIns="0" rtlCol="0" anchor="t"/>
          <a:lstStyle/>
          <a:p>
            <a:pPr marL="0" indent="0" algn="l">
              <a:lnSpc>
                <a:spcPts val="2750"/>
              </a:lnSpc>
              <a:buNone/>
            </a:pPr>
            <a:r>
              <a:rPr lang="en-US" sz="2200" b="1" dirty="0">
                <a:solidFill>
                  <a:srgbClr val="D7E5D8"/>
                </a:solidFill>
                <a:latin typeface="Syne Extra Bold" pitchFamily="34" charset="0"/>
                <a:ea typeface="Syne Extra Bold" pitchFamily="34" charset="-122"/>
                <a:cs typeface="Syne Extra Bold" pitchFamily="34" charset="-120"/>
              </a:rPr>
              <a:t>Artificial Neural Networks</a:t>
            </a:r>
            <a:endParaRPr lang="en-US" sz="2200" dirty="0"/>
          </a:p>
        </p:txBody>
      </p:sp>
      <p:sp>
        <p:nvSpPr>
          <p:cNvPr id="5" name="Text 2"/>
          <p:cNvSpPr/>
          <p:nvPr/>
        </p:nvSpPr>
        <p:spPr>
          <a:xfrm>
            <a:off x="6280190" y="5176480"/>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Ibrahim Johar Farooqi (23K-0074) | Syed Ukkashah Ahmed (23K-0055)</a:t>
            </a:r>
            <a:endParaRPr lang="en-US" sz="1750" dirty="0"/>
          </a:p>
        </p:txBody>
      </p:sp>
      <p:sp>
        <p:nvSpPr>
          <p:cNvPr id="6" name="Rectangle 5">
            <a:extLst>
              <a:ext uri="{FF2B5EF4-FFF2-40B4-BE49-F238E27FC236}">
                <a16:creationId xmlns:a16="http://schemas.microsoft.com/office/drawing/2014/main" id="{3E29A3E8-DD6B-7855-DC78-99D8FC309A60}"/>
              </a:ext>
            </a:extLst>
          </p:cNvPr>
          <p:cNvSpPr/>
          <p:nvPr/>
        </p:nvSpPr>
        <p:spPr>
          <a:xfrm>
            <a:off x="11978521" y="7185967"/>
            <a:ext cx="2573820" cy="992459"/>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65133"/>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Our Project Spans Two Domains</a:t>
            </a:r>
            <a:endParaRPr lang="en-US" sz="4450" dirty="0"/>
          </a:p>
        </p:txBody>
      </p:sp>
      <p:sp>
        <p:nvSpPr>
          <p:cNvPr id="3" name="Text 1"/>
          <p:cNvSpPr/>
          <p:nvPr/>
        </p:nvSpPr>
        <p:spPr>
          <a:xfrm>
            <a:off x="793790" y="293631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Because our project sits at the CV-NLP intersection, loss functions and metrics from both domains are directly relevant.</a:t>
            </a:r>
            <a:endParaRPr lang="en-US" sz="1750" dirty="0"/>
          </a:p>
        </p:txBody>
      </p:sp>
      <p:sp>
        <p:nvSpPr>
          <p:cNvPr id="4" name="Shape 2"/>
          <p:cNvSpPr/>
          <p:nvPr/>
        </p:nvSpPr>
        <p:spPr>
          <a:xfrm>
            <a:off x="793790" y="3554373"/>
            <a:ext cx="4196358" cy="3609975"/>
          </a:xfrm>
          <a:prstGeom prst="roundRect">
            <a:avLst>
              <a:gd name="adj" fmla="val 2639"/>
            </a:avLst>
          </a:prstGeom>
          <a:solidFill>
            <a:srgbClr val="547808"/>
          </a:solidFill>
          <a:ln w="7620">
            <a:solidFill>
              <a:srgbClr val="6D9121"/>
            </a:solidFill>
            <a:prstDash val="solid"/>
          </a:ln>
        </p:spPr>
        <p:txBody>
          <a:bodyPr/>
          <a:lstStyle/>
          <a:p>
            <a:endParaRPr lang="en-PK"/>
          </a:p>
        </p:txBody>
      </p:sp>
      <p:sp>
        <p:nvSpPr>
          <p:cNvPr id="5" name="Text 3"/>
          <p:cNvSpPr/>
          <p:nvPr/>
        </p:nvSpPr>
        <p:spPr>
          <a:xfrm>
            <a:off x="1028224" y="3788807"/>
            <a:ext cx="3727490" cy="1417320"/>
          </a:xfrm>
          <a:prstGeom prst="rect">
            <a:avLst/>
          </a:prstGeom>
          <a:noFill/>
          <a:ln/>
        </p:spPr>
        <p:txBody>
          <a:bodyPr wrap="square" lIns="0" tIns="0" rIns="0" bIns="0" rtlCol="0" anchor="t"/>
          <a:lstStyle/>
          <a:p>
            <a:pPr marL="0" indent="0" algn="l">
              <a:lnSpc>
                <a:spcPts val="2750"/>
              </a:lnSpc>
              <a:buNone/>
            </a:pPr>
            <a:r>
              <a:rPr lang="en-US" sz="2200" b="1" dirty="0">
                <a:solidFill>
                  <a:srgbClr val="FFFFFF"/>
                </a:solidFill>
                <a:latin typeface="Syne Extra Bold" pitchFamily="34" charset="0"/>
                <a:ea typeface="Syne Extra Bold" pitchFamily="34" charset="-122"/>
                <a:cs typeface="Syne Extra Bold" pitchFamily="34" charset="-120"/>
              </a:rPr>
              <a:t>CLIP Vision Encoder (Computer Vision)</a:t>
            </a:r>
            <a:endParaRPr lang="en-US" sz="2200" dirty="0"/>
          </a:p>
        </p:txBody>
      </p:sp>
      <p:sp>
        <p:nvSpPr>
          <p:cNvPr id="6" name="Text 4"/>
          <p:cNvSpPr/>
          <p:nvPr/>
        </p:nvSpPr>
        <p:spPr>
          <a:xfrm>
            <a:off x="1028224" y="5342215"/>
            <a:ext cx="3727490" cy="362903"/>
          </a:xfrm>
          <a:prstGeom prst="rect">
            <a:avLst/>
          </a:prstGeom>
          <a:noFill/>
          <a:ln/>
        </p:spPr>
        <p:txBody>
          <a:bodyPr wrap="none" lIns="0" tIns="0" rIns="0" bIns="0" rtlCol="0" anchor="t"/>
          <a:lstStyle/>
          <a:p>
            <a:pPr marL="0" indent="0" algn="l">
              <a:lnSpc>
                <a:spcPts val="2850"/>
              </a:lnSpc>
              <a:buNone/>
            </a:pPr>
            <a:r>
              <a:rPr lang="en-US" sz="1750" b="1" dirty="0">
                <a:solidFill>
                  <a:srgbClr val="FFFFFF"/>
                </a:solidFill>
                <a:latin typeface="Syne" pitchFamily="34" charset="0"/>
                <a:ea typeface="Syne" pitchFamily="34" charset="-122"/>
                <a:cs typeface="Syne" pitchFamily="34" charset="-120"/>
              </a:rPr>
              <a:t>Loss:</a:t>
            </a:r>
            <a:r>
              <a:rPr lang="en-US" sz="1750" dirty="0">
                <a:solidFill>
                  <a:srgbClr val="FFFFFF"/>
                </a:solidFill>
                <a:latin typeface="Syne" pitchFamily="34" charset="0"/>
                <a:ea typeface="Syne" pitchFamily="34" charset="-122"/>
                <a:cs typeface="Syne" pitchFamily="34" charset="-120"/>
              </a:rPr>
              <a:t> Contrastive Loss</a:t>
            </a:r>
            <a:endParaRPr lang="en-US" sz="1750" dirty="0"/>
          </a:p>
        </p:txBody>
      </p:sp>
      <p:sp>
        <p:nvSpPr>
          <p:cNvPr id="7" name="Text 5"/>
          <p:cNvSpPr/>
          <p:nvPr/>
        </p:nvSpPr>
        <p:spPr>
          <a:xfrm>
            <a:off x="1028224" y="5841206"/>
            <a:ext cx="3727490" cy="725805"/>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Syne" pitchFamily="34" charset="0"/>
                <a:ea typeface="Syne" pitchFamily="34" charset="-122"/>
                <a:cs typeface="Syne" pitchFamily="34" charset="-120"/>
              </a:rPr>
              <a:t>Role:</a:t>
            </a:r>
            <a:r>
              <a:rPr lang="en-US" sz="1750" dirty="0">
                <a:solidFill>
                  <a:srgbClr val="FFFFFF"/>
                </a:solidFill>
                <a:latin typeface="Syne" pitchFamily="34" charset="0"/>
                <a:ea typeface="Syne" pitchFamily="34" charset="-122"/>
                <a:cs typeface="Syne" pitchFamily="34" charset="-120"/>
              </a:rPr>
              <a:t> Builds visual-language alignment inside LLaVA</a:t>
            </a:r>
            <a:endParaRPr lang="en-US" sz="1750" dirty="0"/>
          </a:p>
        </p:txBody>
      </p:sp>
      <p:sp>
        <p:nvSpPr>
          <p:cNvPr id="8" name="Shape 6"/>
          <p:cNvSpPr/>
          <p:nvPr/>
        </p:nvSpPr>
        <p:spPr>
          <a:xfrm>
            <a:off x="5216962" y="3554373"/>
            <a:ext cx="4196358" cy="3609975"/>
          </a:xfrm>
          <a:prstGeom prst="roundRect">
            <a:avLst>
              <a:gd name="adj" fmla="val 2639"/>
            </a:avLst>
          </a:prstGeom>
          <a:solidFill>
            <a:srgbClr val="547808"/>
          </a:solidFill>
          <a:ln w="7620">
            <a:solidFill>
              <a:srgbClr val="6D9121"/>
            </a:solidFill>
            <a:prstDash val="solid"/>
          </a:ln>
        </p:spPr>
        <p:txBody>
          <a:bodyPr/>
          <a:lstStyle/>
          <a:p>
            <a:endParaRPr lang="en-PK"/>
          </a:p>
        </p:txBody>
      </p:sp>
      <p:sp>
        <p:nvSpPr>
          <p:cNvPr id="9" name="Text 7"/>
          <p:cNvSpPr/>
          <p:nvPr/>
        </p:nvSpPr>
        <p:spPr>
          <a:xfrm>
            <a:off x="5451396" y="3788807"/>
            <a:ext cx="3727490" cy="1417320"/>
          </a:xfrm>
          <a:prstGeom prst="rect">
            <a:avLst/>
          </a:prstGeom>
          <a:noFill/>
          <a:ln/>
        </p:spPr>
        <p:txBody>
          <a:bodyPr wrap="square" lIns="0" tIns="0" rIns="0" bIns="0" rtlCol="0" anchor="t"/>
          <a:lstStyle/>
          <a:p>
            <a:pPr marL="0" indent="0" algn="l">
              <a:lnSpc>
                <a:spcPts val="2750"/>
              </a:lnSpc>
              <a:buNone/>
            </a:pPr>
            <a:r>
              <a:rPr lang="en-US" sz="2200" b="1" dirty="0">
                <a:solidFill>
                  <a:srgbClr val="FFFFFF"/>
                </a:solidFill>
                <a:latin typeface="Syne Extra Bold" pitchFamily="34" charset="0"/>
                <a:ea typeface="Syne Extra Bold" pitchFamily="34" charset="-122"/>
                <a:cs typeface="Syne Extra Bold" pitchFamily="34" charset="-120"/>
              </a:rPr>
              <a:t>POPE Hallucination Evaluation (CV + Classification)</a:t>
            </a:r>
            <a:endParaRPr lang="en-US" sz="2200" dirty="0"/>
          </a:p>
        </p:txBody>
      </p:sp>
      <p:sp>
        <p:nvSpPr>
          <p:cNvPr id="10" name="Text 8"/>
          <p:cNvSpPr/>
          <p:nvPr/>
        </p:nvSpPr>
        <p:spPr>
          <a:xfrm>
            <a:off x="5451396" y="5342215"/>
            <a:ext cx="3727490" cy="725805"/>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Syne" pitchFamily="34" charset="0"/>
                <a:ea typeface="Syne" pitchFamily="34" charset="-122"/>
                <a:cs typeface="Syne" pitchFamily="34" charset="-120"/>
              </a:rPr>
              <a:t>Loss/Metrics:</a:t>
            </a:r>
            <a:r>
              <a:rPr lang="en-US" sz="1750" dirty="0">
                <a:solidFill>
                  <a:srgbClr val="FFFFFF"/>
                </a:solidFill>
                <a:latin typeface="Syne" pitchFamily="34" charset="0"/>
                <a:ea typeface="Syne" pitchFamily="34" charset="-122"/>
                <a:cs typeface="Syne" pitchFamily="34" charset="-120"/>
              </a:rPr>
              <a:t> BCE, Focal Loss, F1, AP, AUC-ROC</a:t>
            </a:r>
            <a:endParaRPr lang="en-US" sz="1750" dirty="0"/>
          </a:p>
        </p:txBody>
      </p:sp>
      <p:sp>
        <p:nvSpPr>
          <p:cNvPr id="11" name="Text 9"/>
          <p:cNvSpPr/>
          <p:nvPr/>
        </p:nvSpPr>
        <p:spPr>
          <a:xfrm>
            <a:off x="5451396" y="6204109"/>
            <a:ext cx="3727490" cy="725805"/>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Syne" pitchFamily="34" charset="0"/>
                <a:ea typeface="Syne" pitchFamily="34" charset="-122"/>
                <a:cs typeface="Syne" pitchFamily="34" charset="-120"/>
              </a:rPr>
              <a:t>Role:</a:t>
            </a:r>
            <a:r>
              <a:rPr lang="en-US" sz="1750" dirty="0">
                <a:solidFill>
                  <a:srgbClr val="FFFFFF"/>
                </a:solidFill>
                <a:latin typeface="Syne" pitchFamily="34" charset="0"/>
                <a:ea typeface="Syne" pitchFamily="34" charset="-122"/>
                <a:cs typeface="Syne" pitchFamily="34" charset="-120"/>
              </a:rPr>
              <a:t> Measures how often model hallucinates objects</a:t>
            </a:r>
            <a:endParaRPr lang="en-US" sz="1750" dirty="0"/>
          </a:p>
        </p:txBody>
      </p:sp>
      <p:sp>
        <p:nvSpPr>
          <p:cNvPr id="12" name="Shape 10"/>
          <p:cNvSpPr/>
          <p:nvPr/>
        </p:nvSpPr>
        <p:spPr>
          <a:xfrm>
            <a:off x="9640133" y="3554373"/>
            <a:ext cx="4196358" cy="3609975"/>
          </a:xfrm>
          <a:prstGeom prst="roundRect">
            <a:avLst>
              <a:gd name="adj" fmla="val 2639"/>
            </a:avLst>
          </a:prstGeom>
          <a:solidFill>
            <a:srgbClr val="547808"/>
          </a:solidFill>
          <a:ln w="7620">
            <a:solidFill>
              <a:srgbClr val="6D9121"/>
            </a:solidFill>
            <a:prstDash val="solid"/>
          </a:ln>
        </p:spPr>
        <p:txBody>
          <a:bodyPr/>
          <a:lstStyle/>
          <a:p>
            <a:endParaRPr lang="en-PK"/>
          </a:p>
        </p:txBody>
      </p:sp>
      <p:sp>
        <p:nvSpPr>
          <p:cNvPr id="13" name="Text 11"/>
          <p:cNvSpPr/>
          <p:nvPr/>
        </p:nvSpPr>
        <p:spPr>
          <a:xfrm>
            <a:off x="9874568" y="3788807"/>
            <a:ext cx="3727490" cy="1062990"/>
          </a:xfrm>
          <a:prstGeom prst="rect">
            <a:avLst/>
          </a:prstGeom>
          <a:noFill/>
          <a:ln/>
        </p:spPr>
        <p:txBody>
          <a:bodyPr wrap="square" lIns="0" tIns="0" rIns="0" bIns="0" rtlCol="0" anchor="t"/>
          <a:lstStyle/>
          <a:p>
            <a:pPr marL="0" indent="0" algn="l">
              <a:lnSpc>
                <a:spcPts val="2750"/>
              </a:lnSpc>
              <a:buNone/>
            </a:pPr>
            <a:r>
              <a:rPr lang="en-US" sz="2200" b="1" dirty="0">
                <a:solidFill>
                  <a:srgbClr val="FFFFFF"/>
                </a:solidFill>
                <a:latin typeface="Syne Extra Bold" pitchFamily="34" charset="0"/>
                <a:ea typeface="Syne Extra Bold" pitchFamily="34" charset="-122"/>
                <a:cs typeface="Syne Extra Bold" pitchFamily="34" charset="-120"/>
              </a:rPr>
              <a:t>QLoRA Fine-Tuning + CVAA Training (NLP)</a:t>
            </a:r>
            <a:endParaRPr lang="en-US" sz="2200" dirty="0"/>
          </a:p>
        </p:txBody>
      </p:sp>
      <p:sp>
        <p:nvSpPr>
          <p:cNvPr id="14" name="Text 12"/>
          <p:cNvSpPr/>
          <p:nvPr/>
        </p:nvSpPr>
        <p:spPr>
          <a:xfrm>
            <a:off x="9874568" y="4987885"/>
            <a:ext cx="3727490" cy="725805"/>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Syne" pitchFamily="34" charset="0"/>
                <a:ea typeface="Syne" pitchFamily="34" charset="-122"/>
                <a:cs typeface="Syne" pitchFamily="34" charset="-120"/>
              </a:rPr>
              <a:t>Loss/Metrics:</a:t>
            </a:r>
            <a:r>
              <a:rPr lang="en-US" sz="1750" dirty="0">
                <a:solidFill>
                  <a:srgbClr val="FFFFFF"/>
                </a:solidFill>
                <a:latin typeface="Syne" pitchFamily="34" charset="0"/>
                <a:ea typeface="Syne" pitchFamily="34" charset="-122"/>
                <a:cs typeface="Syne" pitchFamily="34" charset="-120"/>
              </a:rPr>
              <a:t> Token-level Cross-Entropy, Perplexity</a:t>
            </a:r>
            <a:endParaRPr lang="en-US" sz="1750" dirty="0"/>
          </a:p>
        </p:txBody>
      </p:sp>
      <p:sp>
        <p:nvSpPr>
          <p:cNvPr id="15" name="Text 13"/>
          <p:cNvSpPr/>
          <p:nvPr/>
        </p:nvSpPr>
        <p:spPr>
          <a:xfrm>
            <a:off x="9874568" y="5849779"/>
            <a:ext cx="3727490" cy="725805"/>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Syne" pitchFamily="34" charset="0"/>
                <a:ea typeface="Syne" pitchFamily="34" charset="-122"/>
                <a:cs typeface="Syne" pitchFamily="34" charset="-120"/>
              </a:rPr>
              <a:t>Role:</a:t>
            </a:r>
            <a:r>
              <a:rPr lang="en-US" sz="1750" dirty="0">
                <a:solidFill>
                  <a:srgbClr val="FFFFFF"/>
                </a:solidFill>
                <a:latin typeface="Syne" pitchFamily="34" charset="0"/>
                <a:ea typeface="Syne" pitchFamily="34" charset="-122"/>
                <a:cs typeface="Syne" pitchFamily="34" charset="-120"/>
              </a:rPr>
              <a:t> Trains model to reduce hallucination in Urdu</a:t>
            </a:r>
            <a:endParaRPr lang="en-US" sz="1750" dirty="0"/>
          </a:p>
        </p:txBody>
      </p:sp>
      <p:sp>
        <p:nvSpPr>
          <p:cNvPr id="16" name="Rectangle 15">
            <a:extLst>
              <a:ext uri="{FF2B5EF4-FFF2-40B4-BE49-F238E27FC236}">
                <a16:creationId xmlns:a16="http://schemas.microsoft.com/office/drawing/2014/main" id="{ADDA39BE-93C7-70F0-6C8E-8DB921C4113F}"/>
              </a:ext>
            </a:extLst>
          </p:cNvPr>
          <p:cNvSpPr/>
          <p:nvPr/>
        </p:nvSpPr>
        <p:spPr>
          <a:xfrm>
            <a:off x="11978521" y="7300436"/>
            <a:ext cx="2573820" cy="877990"/>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01435"/>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Four Loss Functions - Where and Why</a:t>
            </a:r>
            <a:endParaRPr lang="en-US" sz="4450" dirty="0"/>
          </a:p>
        </p:txBody>
      </p:sp>
      <p:sp>
        <p:nvSpPr>
          <p:cNvPr id="3" name="Shape 1"/>
          <p:cNvSpPr/>
          <p:nvPr/>
        </p:nvSpPr>
        <p:spPr>
          <a:xfrm>
            <a:off x="793790" y="2872621"/>
            <a:ext cx="13042821" cy="4355544"/>
          </a:xfrm>
          <a:prstGeom prst="roundRect">
            <a:avLst>
              <a:gd name="adj" fmla="val 2187"/>
            </a:avLst>
          </a:prstGeom>
          <a:noFill/>
          <a:ln w="7620">
            <a:solidFill>
              <a:srgbClr val="FFFFFF">
                <a:alpha val="24000"/>
              </a:srgbClr>
            </a:solidFill>
            <a:prstDash val="solid"/>
          </a:ln>
        </p:spPr>
        <p:txBody>
          <a:bodyPr/>
          <a:lstStyle/>
          <a:p>
            <a:endParaRPr lang="en-PK"/>
          </a:p>
        </p:txBody>
      </p:sp>
      <p:sp>
        <p:nvSpPr>
          <p:cNvPr id="4" name="Shape 2"/>
          <p:cNvSpPr/>
          <p:nvPr/>
        </p:nvSpPr>
        <p:spPr>
          <a:xfrm>
            <a:off x="801410" y="2880241"/>
            <a:ext cx="13026271" cy="650319"/>
          </a:xfrm>
          <a:prstGeom prst="rect">
            <a:avLst/>
          </a:prstGeom>
          <a:solidFill>
            <a:srgbClr val="FFFFFF">
              <a:alpha val="4000"/>
            </a:srgbClr>
          </a:solidFill>
          <a:ln/>
        </p:spPr>
        <p:txBody>
          <a:bodyPr/>
          <a:lstStyle/>
          <a:p>
            <a:endParaRPr lang="en-PK"/>
          </a:p>
        </p:txBody>
      </p:sp>
      <p:sp>
        <p:nvSpPr>
          <p:cNvPr id="5" name="Text 3"/>
          <p:cNvSpPr/>
          <p:nvPr/>
        </p:nvSpPr>
        <p:spPr>
          <a:xfrm>
            <a:off x="1029653" y="3023949"/>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D7E5D8"/>
                </a:solidFill>
                <a:latin typeface="Syne" pitchFamily="34" charset="0"/>
                <a:ea typeface="Syne" pitchFamily="34" charset="-122"/>
                <a:cs typeface="Syne" pitchFamily="34" charset="-120"/>
              </a:rPr>
              <a:t>Loss Function</a:t>
            </a:r>
            <a:endParaRPr lang="en-US" sz="1750" dirty="0"/>
          </a:p>
        </p:txBody>
      </p:sp>
      <p:sp>
        <p:nvSpPr>
          <p:cNvPr id="6" name="Text 4"/>
          <p:cNvSpPr/>
          <p:nvPr/>
        </p:nvSpPr>
        <p:spPr>
          <a:xfrm>
            <a:off x="5375077" y="3023949"/>
            <a:ext cx="3880366" cy="362903"/>
          </a:xfrm>
          <a:prstGeom prst="rect">
            <a:avLst/>
          </a:prstGeom>
          <a:noFill/>
          <a:ln/>
        </p:spPr>
        <p:txBody>
          <a:bodyPr wrap="none" lIns="0" tIns="0" rIns="0" bIns="0" rtlCol="0" anchor="t"/>
          <a:lstStyle/>
          <a:p>
            <a:pPr marL="0" indent="0" algn="l">
              <a:lnSpc>
                <a:spcPts val="2850"/>
              </a:lnSpc>
              <a:buNone/>
            </a:pPr>
            <a:r>
              <a:rPr lang="en-US" sz="1750" b="1" dirty="0">
                <a:solidFill>
                  <a:srgbClr val="D7E5D8"/>
                </a:solidFill>
                <a:latin typeface="Syne" pitchFamily="34" charset="0"/>
                <a:ea typeface="Syne" pitchFamily="34" charset="-122"/>
                <a:cs typeface="Syne" pitchFamily="34" charset="-120"/>
              </a:rPr>
              <a:t>Where in Our Project</a:t>
            </a:r>
            <a:endParaRPr lang="en-US" sz="1750" dirty="0"/>
          </a:p>
        </p:txBody>
      </p:sp>
      <p:sp>
        <p:nvSpPr>
          <p:cNvPr id="7" name="Text 5"/>
          <p:cNvSpPr/>
          <p:nvPr/>
        </p:nvSpPr>
        <p:spPr>
          <a:xfrm>
            <a:off x="9716691" y="3023949"/>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D7E5D8"/>
                </a:solidFill>
                <a:latin typeface="Syne" pitchFamily="34" charset="0"/>
                <a:ea typeface="Syne" pitchFamily="34" charset="-122"/>
                <a:cs typeface="Syne" pitchFamily="34" charset="-120"/>
              </a:rPr>
              <a:t>Purpose</a:t>
            </a:r>
            <a:endParaRPr lang="en-US" sz="1750" dirty="0"/>
          </a:p>
        </p:txBody>
      </p:sp>
      <p:sp>
        <p:nvSpPr>
          <p:cNvPr id="8" name="Shape 6"/>
          <p:cNvSpPr/>
          <p:nvPr/>
        </p:nvSpPr>
        <p:spPr>
          <a:xfrm>
            <a:off x="801410" y="3530560"/>
            <a:ext cx="13026271" cy="1013222"/>
          </a:xfrm>
          <a:prstGeom prst="rect">
            <a:avLst/>
          </a:prstGeom>
          <a:solidFill>
            <a:srgbClr val="000000">
              <a:alpha val="4000"/>
            </a:srgbClr>
          </a:solidFill>
          <a:ln/>
        </p:spPr>
        <p:txBody>
          <a:bodyPr/>
          <a:lstStyle/>
          <a:p>
            <a:endParaRPr lang="en-PK"/>
          </a:p>
        </p:txBody>
      </p:sp>
      <p:sp>
        <p:nvSpPr>
          <p:cNvPr id="9" name="Text 7"/>
          <p:cNvSpPr/>
          <p:nvPr/>
        </p:nvSpPr>
        <p:spPr>
          <a:xfrm>
            <a:off x="1029653" y="3674269"/>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Contrastive Loss</a:t>
            </a:r>
            <a:endParaRPr lang="en-US" sz="1750" dirty="0"/>
          </a:p>
        </p:txBody>
      </p:sp>
      <p:sp>
        <p:nvSpPr>
          <p:cNvPr id="10" name="Text 8"/>
          <p:cNvSpPr/>
          <p:nvPr/>
        </p:nvSpPr>
        <p:spPr>
          <a:xfrm>
            <a:off x="5375077" y="3674269"/>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CLIP pre-training inside LLaVA</a:t>
            </a:r>
            <a:endParaRPr lang="en-US" sz="1750" dirty="0"/>
          </a:p>
        </p:txBody>
      </p:sp>
      <p:sp>
        <p:nvSpPr>
          <p:cNvPr id="11" name="Text 9"/>
          <p:cNvSpPr/>
          <p:nvPr/>
        </p:nvSpPr>
        <p:spPr>
          <a:xfrm>
            <a:off x="9716691" y="3674269"/>
            <a:ext cx="3884176" cy="725805"/>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Explains why cross-lingual alignment breaks for Urdu</a:t>
            </a:r>
            <a:endParaRPr lang="en-US" sz="1750" dirty="0"/>
          </a:p>
        </p:txBody>
      </p:sp>
      <p:sp>
        <p:nvSpPr>
          <p:cNvPr id="12" name="Shape 10"/>
          <p:cNvSpPr/>
          <p:nvPr/>
        </p:nvSpPr>
        <p:spPr>
          <a:xfrm>
            <a:off x="801410" y="4543782"/>
            <a:ext cx="13026271" cy="1013222"/>
          </a:xfrm>
          <a:prstGeom prst="rect">
            <a:avLst/>
          </a:prstGeom>
          <a:solidFill>
            <a:srgbClr val="FFFFFF">
              <a:alpha val="4000"/>
            </a:srgbClr>
          </a:solidFill>
          <a:ln/>
        </p:spPr>
        <p:txBody>
          <a:bodyPr/>
          <a:lstStyle/>
          <a:p>
            <a:endParaRPr lang="en-PK"/>
          </a:p>
        </p:txBody>
      </p:sp>
      <p:sp>
        <p:nvSpPr>
          <p:cNvPr id="13" name="Text 11"/>
          <p:cNvSpPr/>
          <p:nvPr/>
        </p:nvSpPr>
        <p:spPr>
          <a:xfrm>
            <a:off x="1029653" y="4687491"/>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Binary Cross-Entropy (BCE)</a:t>
            </a:r>
            <a:endParaRPr lang="en-US" sz="1750" dirty="0"/>
          </a:p>
        </p:txBody>
      </p:sp>
      <p:sp>
        <p:nvSpPr>
          <p:cNvPr id="14" name="Text 12"/>
          <p:cNvSpPr/>
          <p:nvPr/>
        </p:nvSpPr>
        <p:spPr>
          <a:xfrm>
            <a:off x="5375077" y="4687491"/>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POPE hallucination evaluation</a:t>
            </a:r>
            <a:endParaRPr lang="en-US" sz="1750" dirty="0"/>
          </a:p>
        </p:txBody>
      </p:sp>
      <p:sp>
        <p:nvSpPr>
          <p:cNvPr id="15" name="Text 13"/>
          <p:cNvSpPr/>
          <p:nvPr/>
        </p:nvSpPr>
        <p:spPr>
          <a:xfrm>
            <a:off x="9716691" y="4687491"/>
            <a:ext cx="3884176" cy="725805"/>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Yes/No hallucination detection is binary classification</a:t>
            </a:r>
            <a:endParaRPr lang="en-US" sz="1750" dirty="0"/>
          </a:p>
        </p:txBody>
      </p:sp>
      <p:sp>
        <p:nvSpPr>
          <p:cNvPr id="16" name="Shape 14"/>
          <p:cNvSpPr/>
          <p:nvPr/>
        </p:nvSpPr>
        <p:spPr>
          <a:xfrm>
            <a:off x="801410" y="5557004"/>
            <a:ext cx="13026271" cy="1013222"/>
          </a:xfrm>
          <a:prstGeom prst="rect">
            <a:avLst/>
          </a:prstGeom>
          <a:solidFill>
            <a:srgbClr val="000000">
              <a:alpha val="4000"/>
            </a:srgbClr>
          </a:solidFill>
          <a:ln/>
        </p:spPr>
        <p:txBody>
          <a:bodyPr/>
          <a:lstStyle/>
          <a:p>
            <a:endParaRPr lang="en-PK"/>
          </a:p>
        </p:txBody>
      </p:sp>
      <p:sp>
        <p:nvSpPr>
          <p:cNvPr id="17" name="Text 15"/>
          <p:cNvSpPr/>
          <p:nvPr/>
        </p:nvSpPr>
        <p:spPr>
          <a:xfrm>
            <a:off x="1029653" y="5700712"/>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Focal Loss</a:t>
            </a:r>
            <a:endParaRPr lang="en-US" sz="1750" dirty="0"/>
          </a:p>
        </p:txBody>
      </p:sp>
      <p:sp>
        <p:nvSpPr>
          <p:cNvPr id="18" name="Text 16"/>
          <p:cNvSpPr/>
          <p:nvPr/>
        </p:nvSpPr>
        <p:spPr>
          <a:xfrm>
            <a:off x="5375077" y="5700712"/>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Candidate loss considered for training</a:t>
            </a:r>
            <a:endParaRPr lang="en-US" sz="1750" dirty="0"/>
          </a:p>
        </p:txBody>
      </p:sp>
      <p:sp>
        <p:nvSpPr>
          <p:cNvPr id="19" name="Text 17"/>
          <p:cNvSpPr/>
          <p:nvPr/>
        </p:nvSpPr>
        <p:spPr>
          <a:xfrm>
            <a:off x="9716691" y="5700712"/>
            <a:ext cx="3884176" cy="725805"/>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Handles class imbalance in hallucination-heavy models</a:t>
            </a:r>
            <a:endParaRPr lang="en-US" sz="1750" dirty="0"/>
          </a:p>
        </p:txBody>
      </p:sp>
      <p:sp>
        <p:nvSpPr>
          <p:cNvPr id="20" name="Shape 18"/>
          <p:cNvSpPr/>
          <p:nvPr/>
        </p:nvSpPr>
        <p:spPr>
          <a:xfrm>
            <a:off x="801410" y="6570226"/>
            <a:ext cx="13026271" cy="650319"/>
          </a:xfrm>
          <a:prstGeom prst="rect">
            <a:avLst/>
          </a:prstGeom>
          <a:solidFill>
            <a:srgbClr val="FFFFFF">
              <a:alpha val="4000"/>
            </a:srgbClr>
          </a:solidFill>
          <a:ln/>
        </p:spPr>
        <p:txBody>
          <a:bodyPr/>
          <a:lstStyle/>
          <a:p>
            <a:endParaRPr lang="en-PK"/>
          </a:p>
        </p:txBody>
      </p:sp>
      <p:sp>
        <p:nvSpPr>
          <p:cNvPr id="21" name="Text 19"/>
          <p:cNvSpPr/>
          <p:nvPr/>
        </p:nvSpPr>
        <p:spPr>
          <a:xfrm>
            <a:off x="1029653" y="6713934"/>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Token-level Cross-Entropy</a:t>
            </a:r>
            <a:endParaRPr lang="en-US" sz="1750" dirty="0"/>
          </a:p>
        </p:txBody>
      </p:sp>
      <p:sp>
        <p:nvSpPr>
          <p:cNvPr id="22" name="Text 20"/>
          <p:cNvSpPr/>
          <p:nvPr/>
        </p:nvSpPr>
        <p:spPr>
          <a:xfrm>
            <a:off x="5375077" y="6713934"/>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QLoRA fine-tuning + CVAA training</a:t>
            </a:r>
            <a:endParaRPr lang="en-US" sz="1750" dirty="0"/>
          </a:p>
        </p:txBody>
      </p:sp>
      <p:sp>
        <p:nvSpPr>
          <p:cNvPr id="23" name="Text 21"/>
          <p:cNvSpPr/>
          <p:nvPr/>
        </p:nvSpPr>
        <p:spPr>
          <a:xfrm>
            <a:off x="9716691" y="6713934"/>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Universal language model training loss</a:t>
            </a:r>
            <a:endParaRPr lang="en-US" sz="1750" dirty="0"/>
          </a:p>
        </p:txBody>
      </p:sp>
      <p:sp>
        <p:nvSpPr>
          <p:cNvPr id="24" name="Rectangle 23">
            <a:extLst>
              <a:ext uri="{FF2B5EF4-FFF2-40B4-BE49-F238E27FC236}">
                <a16:creationId xmlns:a16="http://schemas.microsoft.com/office/drawing/2014/main" id="{670E66C4-94AF-6AE2-56B2-A7E29F33AE8D}"/>
              </a:ext>
            </a:extLst>
          </p:cNvPr>
          <p:cNvSpPr/>
          <p:nvPr/>
        </p:nvSpPr>
        <p:spPr>
          <a:xfrm>
            <a:off x="11978521" y="7300436"/>
            <a:ext cx="2573820" cy="877990"/>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90362"/>
            <a:ext cx="9852422" cy="637937"/>
          </a:xfrm>
          <a:prstGeom prst="rect">
            <a:avLst/>
          </a:prstGeom>
          <a:noFill/>
          <a:ln/>
        </p:spPr>
        <p:txBody>
          <a:bodyPr wrap="none" lIns="0" tIns="0" rIns="0" bIns="0" rtlCol="0" anchor="t"/>
          <a:lstStyle/>
          <a:p>
            <a:pPr marL="0" indent="0" algn="l">
              <a:lnSpc>
                <a:spcPts val="5000"/>
              </a:lnSpc>
              <a:buNone/>
            </a:pPr>
            <a:r>
              <a:rPr lang="en-US" sz="4000" b="1" dirty="0">
                <a:solidFill>
                  <a:srgbClr val="F0F4F1"/>
                </a:solidFill>
                <a:latin typeface="Syne Extra Bold" pitchFamily="34" charset="0"/>
                <a:ea typeface="Syne Extra Bold" pitchFamily="34" charset="-122"/>
                <a:cs typeface="Syne Extra Bold" pitchFamily="34" charset="-120"/>
              </a:rPr>
              <a:t>Loss Functions - CV Side</a:t>
            </a:r>
            <a:endParaRPr lang="en-US" sz="4000" dirty="0"/>
          </a:p>
        </p:txBody>
      </p:sp>
      <p:sp>
        <p:nvSpPr>
          <p:cNvPr id="3" name="Text 1"/>
          <p:cNvSpPr/>
          <p:nvPr/>
        </p:nvSpPr>
        <p:spPr>
          <a:xfrm>
            <a:off x="793790" y="2087523"/>
            <a:ext cx="4047768" cy="382786"/>
          </a:xfrm>
          <a:prstGeom prst="rect">
            <a:avLst/>
          </a:prstGeom>
          <a:noFill/>
          <a:ln/>
        </p:spPr>
        <p:txBody>
          <a:bodyPr wrap="none" lIns="0" tIns="0" rIns="0" bIns="0" rtlCol="0" anchor="t"/>
          <a:lstStyle/>
          <a:p>
            <a:pPr marL="0" indent="0" algn="l">
              <a:lnSpc>
                <a:spcPts val="3000"/>
              </a:lnSpc>
              <a:buNone/>
            </a:pPr>
            <a:r>
              <a:rPr lang="en-US" sz="2400" b="1" dirty="0">
                <a:solidFill>
                  <a:srgbClr val="A9F00F"/>
                </a:solidFill>
                <a:latin typeface="Syne Extra Bold" pitchFamily="34" charset="0"/>
                <a:ea typeface="Syne Extra Bold" pitchFamily="34" charset="-122"/>
                <a:cs typeface="Syne Extra Bold" pitchFamily="34" charset="-120"/>
              </a:rPr>
              <a:t>Contrastive Loss</a:t>
            </a:r>
            <a:endParaRPr lang="en-US" sz="2400" dirty="0"/>
          </a:p>
        </p:txBody>
      </p:sp>
      <p:sp>
        <p:nvSpPr>
          <p:cNvPr id="4" name="Text 2"/>
          <p:cNvSpPr/>
          <p:nvPr/>
        </p:nvSpPr>
        <p:spPr>
          <a:xfrm>
            <a:off x="793790" y="2654022"/>
            <a:ext cx="6272451"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Formula:</a:t>
            </a:r>
            <a:endParaRPr lang="en-US" sz="1600" dirty="0"/>
          </a:p>
        </p:txBody>
      </p:sp>
      <p:sp>
        <p:nvSpPr>
          <p:cNvPr id="5" name="Text 3"/>
          <p:cNvSpPr/>
          <p:nvPr/>
        </p:nvSpPr>
        <p:spPr>
          <a:xfrm>
            <a:off x="793790" y="3196828"/>
            <a:ext cx="6272451" cy="356235"/>
          </a:xfrm>
          <a:prstGeom prst="rect">
            <a:avLst/>
          </a:prstGeom>
          <a:noFill/>
          <a:ln/>
        </p:spPr>
        <p:txBody>
          <a:bodyPr wrap="none" lIns="0" tIns="0" rIns="0" bIns="0" rtlCol="0" anchor="t"/>
          <a:lstStyle/>
          <a:p>
            <a:pPr marL="0" indent="0" algn="l">
              <a:lnSpc>
                <a:spcPts val="2700"/>
              </a:lnSpc>
              <a:buNone/>
            </a:pPr>
            <a:endParaRPr lang="en-US" sz="1800" dirty="0"/>
          </a:p>
        </p:txBody>
      </p:sp>
      <p:pic>
        <p:nvPicPr>
          <p:cNvPr id="6" name="Image 0" descr="preencoded.png"/>
          <p:cNvPicPr>
            <a:picLocks noChangeAspect="1"/>
          </p:cNvPicPr>
          <p:nvPr/>
        </p:nvPicPr>
        <p:blipFill>
          <a:blip r:embed="rId3"/>
          <a:stretch>
            <a:fillRect/>
          </a:stretch>
        </p:blipFill>
        <p:spPr>
          <a:xfrm>
            <a:off x="793790" y="3196828"/>
            <a:ext cx="6272451" cy="356235"/>
          </a:xfrm>
          <a:prstGeom prst="rect">
            <a:avLst/>
          </a:prstGeom>
        </p:spPr>
      </p:pic>
      <p:sp>
        <p:nvSpPr>
          <p:cNvPr id="7" name="Text 4"/>
          <p:cNvSpPr/>
          <p:nvPr/>
        </p:nvSpPr>
        <p:spPr>
          <a:xfrm>
            <a:off x="793790" y="3785592"/>
            <a:ext cx="6272451" cy="620554"/>
          </a:xfrm>
          <a:prstGeom prst="rect">
            <a:avLst/>
          </a:prstGeom>
          <a:noFill/>
          <a:ln/>
        </p:spPr>
        <p:txBody>
          <a:bodyPr wrap="squar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What it does:</a:t>
            </a:r>
            <a:r>
              <a:rPr lang="en-US" sz="1600" dirty="0">
                <a:solidFill>
                  <a:srgbClr val="D7E5D8"/>
                </a:solidFill>
                <a:latin typeface="Syne" pitchFamily="34" charset="0"/>
                <a:ea typeface="Syne" pitchFamily="34" charset="-122"/>
                <a:cs typeface="Syne" pitchFamily="34" charset="-120"/>
              </a:rPr>
              <a:t> Pulls matching image-text pairs together in embedding space, pushes non-matching pairs apart.</a:t>
            </a:r>
            <a:endParaRPr lang="en-US" sz="1600" dirty="0"/>
          </a:p>
        </p:txBody>
      </p:sp>
      <p:sp>
        <p:nvSpPr>
          <p:cNvPr id="8" name="Text 5"/>
          <p:cNvSpPr/>
          <p:nvPr/>
        </p:nvSpPr>
        <p:spPr>
          <a:xfrm>
            <a:off x="793790" y="4571405"/>
            <a:ext cx="6272451" cy="1241108"/>
          </a:xfrm>
          <a:prstGeom prst="rect">
            <a:avLst/>
          </a:prstGeom>
          <a:noFill/>
          <a:ln/>
        </p:spPr>
        <p:txBody>
          <a:bodyPr wrap="squar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Relevance to project:</a:t>
            </a:r>
            <a:r>
              <a:rPr lang="en-US" sz="1600" dirty="0">
                <a:solidFill>
                  <a:srgbClr val="D7E5D8"/>
                </a:solidFill>
                <a:latin typeface="Syne" pitchFamily="34" charset="0"/>
                <a:ea typeface="Syne" pitchFamily="34" charset="-122"/>
                <a:cs typeface="Syne" pitchFamily="34" charset="-120"/>
              </a:rPr>
              <a:t> CLIP inside LLaVA was trained on English pairs using this loss, so the visual embedding space is English-aligned by construction. When prompted in Urdu, this alignment breaks. Our CVAA module repairs this.</a:t>
            </a:r>
            <a:endParaRPr lang="en-US" sz="1600" dirty="0"/>
          </a:p>
        </p:txBody>
      </p:sp>
      <p:sp>
        <p:nvSpPr>
          <p:cNvPr id="9" name="Text 6"/>
          <p:cNvSpPr/>
          <p:nvPr/>
        </p:nvSpPr>
        <p:spPr>
          <a:xfrm>
            <a:off x="793790" y="5977771"/>
            <a:ext cx="6272451"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Advantage:</a:t>
            </a:r>
            <a:r>
              <a:rPr lang="en-US" sz="1600" dirty="0">
                <a:solidFill>
                  <a:srgbClr val="D7E5D8"/>
                </a:solidFill>
                <a:latin typeface="Syne" pitchFamily="34" charset="0"/>
                <a:ea typeface="Syne" pitchFamily="34" charset="-122"/>
                <a:cs typeface="Syne" pitchFamily="34" charset="-120"/>
              </a:rPr>
              <a:t> Learns rich visual-semantic representations at scale</a:t>
            </a:r>
            <a:endParaRPr lang="en-US" sz="1600" dirty="0"/>
          </a:p>
        </p:txBody>
      </p:sp>
      <p:sp>
        <p:nvSpPr>
          <p:cNvPr id="10" name="Text 7"/>
          <p:cNvSpPr/>
          <p:nvPr/>
        </p:nvSpPr>
        <p:spPr>
          <a:xfrm>
            <a:off x="793790" y="6453307"/>
            <a:ext cx="6272451" cy="620554"/>
          </a:xfrm>
          <a:prstGeom prst="rect">
            <a:avLst/>
          </a:prstGeom>
          <a:noFill/>
          <a:ln/>
        </p:spPr>
        <p:txBody>
          <a:bodyPr wrap="squar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Limitation:</a:t>
            </a:r>
            <a:r>
              <a:rPr lang="en-US" sz="1600" dirty="0">
                <a:solidFill>
                  <a:srgbClr val="D7E5D8"/>
                </a:solidFill>
                <a:latin typeface="Syne" pitchFamily="34" charset="0"/>
                <a:ea typeface="Syne" pitchFamily="34" charset="-122"/>
                <a:cs typeface="Syne" pitchFamily="34" charset="-120"/>
              </a:rPr>
              <a:t> Monolingual, English-biased alignment fails for Urdu prompts</a:t>
            </a:r>
            <a:endParaRPr lang="en-US" sz="1600" dirty="0"/>
          </a:p>
        </p:txBody>
      </p:sp>
      <p:sp>
        <p:nvSpPr>
          <p:cNvPr id="11" name="Text 8"/>
          <p:cNvSpPr/>
          <p:nvPr/>
        </p:nvSpPr>
        <p:spPr>
          <a:xfrm>
            <a:off x="7571780" y="2087523"/>
            <a:ext cx="5165646" cy="382786"/>
          </a:xfrm>
          <a:prstGeom prst="rect">
            <a:avLst/>
          </a:prstGeom>
          <a:noFill/>
          <a:ln/>
        </p:spPr>
        <p:txBody>
          <a:bodyPr wrap="none" lIns="0" tIns="0" rIns="0" bIns="0" rtlCol="0" anchor="t"/>
          <a:lstStyle/>
          <a:p>
            <a:pPr marL="0" indent="0" algn="l">
              <a:lnSpc>
                <a:spcPts val="3000"/>
              </a:lnSpc>
              <a:buNone/>
            </a:pPr>
            <a:r>
              <a:rPr lang="en-US" sz="2400" b="1" dirty="0">
                <a:solidFill>
                  <a:srgbClr val="81B61C"/>
                </a:solidFill>
                <a:latin typeface="Syne Extra Bold" pitchFamily="34" charset="0"/>
                <a:ea typeface="Syne Extra Bold" pitchFamily="34" charset="-122"/>
                <a:cs typeface="Syne Extra Bold" pitchFamily="34" charset="-120"/>
              </a:rPr>
              <a:t>Binary Cross-Entropy</a:t>
            </a:r>
            <a:endParaRPr lang="en-US" sz="2400" dirty="0"/>
          </a:p>
        </p:txBody>
      </p:sp>
      <p:sp>
        <p:nvSpPr>
          <p:cNvPr id="12" name="Text 9"/>
          <p:cNvSpPr/>
          <p:nvPr/>
        </p:nvSpPr>
        <p:spPr>
          <a:xfrm>
            <a:off x="7571780" y="2654022"/>
            <a:ext cx="6272451"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Formula:</a:t>
            </a:r>
            <a:endParaRPr lang="en-US" sz="1600" dirty="0"/>
          </a:p>
        </p:txBody>
      </p:sp>
      <p:sp>
        <p:nvSpPr>
          <p:cNvPr id="13" name="Text 10"/>
          <p:cNvSpPr/>
          <p:nvPr/>
        </p:nvSpPr>
        <p:spPr>
          <a:xfrm>
            <a:off x="7571780" y="3196828"/>
            <a:ext cx="6272451" cy="356235"/>
          </a:xfrm>
          <a:prstGeom prst="rect">
            <a:avLst/>
          </a:prstGeom>
          <a:noFill/>
          <a:ln/>
        </p:spPr>
        <p:txBody>
          <a:bodyPr wrap="none" lIns="0" tIns="0" rIns="0" bIns="0" rtlCol="0" anchor="t"/>
          <a:lstStyle/>
          <a:p>
            <a:pPr marL="0" indent="0" algn="l">
              <a:lnSpc>
                <a:spcPts val="2700"/>
              </a:lnSpc>
              <a:buNone/>
            </a:pPr>
            <a:endParaRPr lang="en-US" sz="1800" dirty="0"/>
          </a:p>
        </p:txBody>
      </p:sp>
      <p:pic>
        <p:nvPicPr>
          <p:cNvPr id="14" name="Image 1" descr="preencoded.png"/>
          <p:cNvPicPr>
            <a:picLocks noChangeAspect="1"/>
          </p:cNvPicPr>
          <p:nvPr/>
        </p:nvPicPr>
        <p:blipFill>
          <a:blip r:embed="rId4"/>
          <a:stretch>
            <a:fillRect/>
          </a:stretch>
        </p:blipFill>
        <p:spPr>
          <a:xfrm>
            <a:off x="7571780" y="3196828"/>
            <a:ext cx="6272451" cy="356235"/>
          </a:xfrm>
          <a:prstGeom prst="rect">
            <a:avLst/>
          </a:prstGeom>
        </p:spPr>
      </p:pic>
      <p:sp>
        <p:nvSpPr>
          <p:cNvPr id="15" name="Text 11"/>
          <p:cNvSpPr/>
          <p:nvPr/>
        </p:nvSpPr>
        <p:spPr>
          <a:xfrm>
            <a:off x="7571780" y="3785592"/>
            <a:ext cx="6272451"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What it does:</a:t>
            </a:r>
            <a:r>
              <a:rPr lang="en-US" sz="1600" dirty="0">
                <a:solidFill>
                  <a:srgbClr val="D7E5D8"/>
                </a:solidFill>
                <a:latin typeface="Syne" pitchFamily="34" charset="0"/>
                <a:ea typeface="Syne" pitchFamily="34" charset="-122"/>
                <a:cs typeface="Syne" pitchFamily="34" charset="-120"/>
              </a:rPr>
              <a:t> Measures error on binary Yes/No predictions.</a:t>
            </a:r>
            <a:endParaRPr lang="en-US" sz="1600" dirty="0"/>
          </a:p>
        </p:txBody>
      </p:sp>
      <p:sp>
        <p:nvSpPr>
          <p:cNvPr id="16" name="Text 12"/>
          <p:cNvSpPr/>
          <p:nvPr/>
        </p:nvSpPr>
        <p:spPr>
          <a:xfrm>
            <a:off x="7571780" y="4261128"/>
            <a:ext cx="6272451" cy="620554"/>
          </a:xfrm>
          <a:prstGeom prst="rect">
            <a:avLst/>
          </a:prstGeom>
          <a:noFill/>
          <a:ln/>
        </p:spPr>
        <p:txBody>
          <a:bodyPr wrap="squar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Relevance to project:</a:t>
            </a:r>
            <a:r>
              <a:rPr lang="en-US" sz="1600" dirty="0">
                <a:solidFill>
                  <a:srgbClr val="D7E5D8"/>
                </a:solidFill>
                <a:latin typeface="Syne" pitchFamily="34" charset="0"/>
                <a:ea typeface="Syne" pitchFamily="34" charset="-122"/>
                <a:cs typeface="Syne" pitchFamily="34" charset="-120"/>
              </a:rPr>
              <a:t> POPE asks "Is there a [object] in this image?" every question is binary. BCE is the natural loss for this task.</a:t>
            </a:r>
            <a:endParaRPr lang="en-US" sz="1600" dirty="0"/>
          </a:p>
        </p:txBody>
      </p:sp>
      <p:sp>
        <p:nvSpPr>
          <p:cNvPr id="17" name="Text 13"/>
          <p:cNvSpPr/>
          <p:nvPr/>
        </p:nvSpPr>
        <p:spPr>
          <a:xfrm>
            <a:off x="7571780" y="5046940"/>
            <a:ext cx="6272451"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Advantage:</a:t>
            </a:r>
            <a:r>
              <a:rPr lang="en-US" sz="1600" dirty="0">
                <a:solidFill>
                  <a:srgbClr val="D7E5D8"/>
                </a:solidFill>
                <a:latin typeface="Syne" pitchFamily="34" charset="0"/>
                <a:ea typeface="Syne" pitchFamily="34" charset="-122"/>
                <a:cs typeface="Syne" pitchFamily="34" charset="-120"/>
              </a:rPr>
              <a:t> Probabilistic output, differentiable, well-calibrated</a:t>
            </a:r>
            <a:endParaRPr lang="en-US" sz="1600" dirty="0"/>
          </a:p>
        </p:txBody>
      </p:sp>
      <p:sp>
        <p:nvSpPr>
          <p:cNvPr id="18" name="Text 14"/>
          <p:cNvSpPr/>
          <p:nvPr/>
        </p:nvSpPr>
        <p:spPr>
          <a:xfrm>
            <a:off x="7571780" y="5522476"/>
            <a:ext cx="6272451" cy="620554"/>
          </a:xfrm>
          <a:prstGeom prst="rect">
            <a:avLst/>
          </a:prstGeom>
          <a:noFill/>
          <a:ln/>
        </p:spPr>
        <p:txBody>
          <a:bodyPr wrap="squar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Limitation:</a:t>
            </a:r>
            <a:r>
              <a:rPr lang="en-US" sz="1600" dirty="0">
                <a:solidFill>
                  <a:srgbClr val="D7E5D8"/>
                </a:solidFill>
                <a:latin typeface="Syne" pitchFamily="34" charset="0"/>
                <a:ea typeface="Syne" pitchFamily="34" charset="-122"/>
                <a:cs typeface="Syne" pitchFamily="34" charset="-120"/>
              </a:rPr>
              <a:t> Sensitive to class imbalance, biased models can score deceptively low loss</a:t>
            </a:r>
            <a:endParaRPr lang="en-US" sz="1600" dirty="0"/>
          </a:p>
        </p:txBody>
      </p:sp>
      <p:sp>
        <p:nvSpPr>
          <p:cNvPr id="19" name="Rectangle 18">
            <a:extLst>
              <a:ext uri="{FF2B5EF4-FFF2-40B4-BE49-F238E27FC236}">
                <a16:creationId xmlns:a16="http://schemas.microsoft.com/office/drawing/2014/main" id="{0CD5F4DC-3A7D-C035-A7FA-15F05024AE5A}"/>
              </a:ext>
            </a:extLst>
          </p:cNvPr>
          <p:cNvSpPr/>
          <p:nvPr/>
        </p:nvSpPr>
        <p:spPr>
          <a:xfrm>
            <a:off x="11978521" y="7300436"/>
            <a:ext cx="2573820" cy="877990"/>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7956" y="630436"/>
            <a:ext cx="13054489" cy="1196102"/>
          </a:xfrm>
          <a:prstGeom prst="rect">
            <a:avLst/>
          </a:prstGeom>
          <a:noFill/>
          <a:ln/>
        </p:spPr>
        <p:txBody>
          <a:bodyPr wrap="square" lIns="0" tIns="0" rIns="0" bIns="0" rtlCol="0" anchor="t"/>
          <a:lstStyle/>
          <a:p>
            <a:pPr marL="0" indent="0" algn="l">
              <a:lnSpc>
                <a:spcPts val="4700"/>
              </a:lnSpc>
              <a:buNone/>
            </a:pPr>
            <a:r>
              <a:rPr lang="en-US" sz="3750" b="1" dirty="0">
                <a:solidFill>
                  <a:srgbClr val="F0F4F1"/>
                </a:solidFill>
                <a:latin typeface="Syne Extra Bold" pitchFamily="34" charset="0"/>
                <a:ea typeface="Syne Extra Bold" pitchFamily="34" charset="-122"/>
                <a:cs typeface="Syne Extra Bold" pitchFamily="34" charset="-120"/>
              </a:rPr>
              <a:t>Loss Functions - Handling Imbalance and Training LLMs</a:t>
            </a:r>
            <a:endParaRPr lang="en-US" sz="3750" dirty="0"/>
          </a:p>
        </p:txBody>
      </p:sp>
      <p:sp>
        <p:nvSpPr>
          <p:cNvPr id="3" name="Text 1"/>
          <p:cNvSpPr/>
          <p:nvPr/>
        </p:nvSpPr>
        <p:spPr>
          <a:xfrm>
            <a:off x="787956" y="2230160"/>
            <a:ext cx="2870716" cy="358735"/>
          </a:xfrm>
          <a:prstGeom prst="rect">
            <a:avLst/>
          </a:prstGeom>
          <a:noFill/>
          <a:ln/>
        </p:spPr>
        <p:txBody>
          <a:bodyPr wrap="none" lIns="0" tIns="0" rIns="0" bIns="0" rtlCol="0" anchor="t"/>
          <a:lstStyle/>
          <a:p>
            <a:pPr marL="0" indent="0" algn="l">
              <a:lnSpc>
                <a:spcPts val="2800"/>
              </a:lnSpc>
              <a:buNone/>
            </a:pPr>
            <a:r>
              <a:rPr lang="en-US" sz="2250" b="1" dirty="0">
                <a:solidFill>
                  <a:srgbClr val="A9F00F"/>
                </a:solidFill>
                <a:latin typeface="Syne Extra Bold" pitchFamily="34" charset="0"/>
                <a:ea typeface="Syne Extra Bold" pitchFamily="34" charset="-122"/>
                <a:cs typeface="Syne Extra Bold" pitchFamily="34" charset="-120"/>
              </a:rPr>
              <a:t>Focal Loss</a:t>
            </a:r>
            <a:endParaRPr lang="en-US" sz="2250" dirty="0"/>
          </a:p>
        </p:txBody>
      </p:sp>
      <p:sp>
        <p:nvSpPr>
          <p:cNvPr id="4" name="Text 2"/>
          <p:cNvSpPr/>
          <p:nvPr/>
        </p:nvSpPr>
        <p:spPr>
          <a:xfrm>
            <a:off x="787956" y="2750344"/>
            <a:ext cx="6293763" cy="282178"/>
          </a:xfrm>
          <a:prstGeom prst="rect">
            <a:avLst/>
          </a:prstGeom>
          <a:noFill/>
          <a:ln/>
        </p:spPr>
        <p:txBody>
          <a:bodyPr wrap="non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Formula:</a:t>
            </a:r>
            <a:endParaRPr lang="en-US" sz="1500" dirty="0"/>
          </a:p>
        </p:txBody>
      </p:sp>
      <p:sp>
        <p:nvSpPr>
          <p:cNvPr id="5" name="Text 3"/>
          <p:cNvSpPr/>
          <p:nvPr/>
        </p:nvSpPr>
        <p:spPr>
          <a:xfrm>
            <a:off x="787956" y="3236833"/>
            <a:ext cx="6293763" cy="327779"/>
          </a:xfrm>
          <a:prstGeom prst="rect">
            <a:avLst/>
          </a:prstGeom>
          <a:noFill/>
          <a:ln/>
        </p:spPr>
        <p:txBody>
          <a:bodyPr wrap="none" lIns="0" tIns="0" rIns="0" bIns="0" rtlCol="0" anchor="t"/>
          <a:lstStyle/>
          <a:p>
            <a:pPr marL="0" indent="0" algn="l">
              <a:lnSpc>
                <a:spcPts val="2500"/>
              </a:lnSpc>
              <a:buNone/>
            </a:pPr>
            <a:endParaRPr lang="en-US" sz="1650" dirty="0"/>
          </a:p>
        </p:txBody>
      </p:sp>
      <p:pic>
        <p:nvPicPr>
          <p:cNvPr id="6" name="Image 0" descr="preencoded.png"/>
          <p:cNvPicPr>
            <a:picLocks noChangeAspect="1"/>
          </p:cNvPicPr>
          <p:nvPr/>
        </p:nvPicPr>
        <p:blipFill>
          <a:blip r:embed="rId3"/>
          <a:stretch>
            <a:fillRect/>
          </a:stretch>
        </p:blipFill>
        <p:spPr>
          <a:xfrm>
            <a:off x="787956" y="3236833"/>
            <a:ext cx="6293763" cy="327779"/>
          </a:xfrm>
          <a:prstGeom prst="rect">
            <a:avLst/>
          </a:prstGeom>
        </p:spPr>
      </p:pic>
      <p:sp>
        <p:nvSpPr>
          <p:cNvPr id="7" name="Text 4"/>
          <p:cNvSpPr/>
          <p:nvPr/>
        </p:nvSpPr>
        <p:spPr>
          <a:xfrm>
            <a:off x="787956" y="3768923"/>
            <a:ext cx="6293763" cy="564356"/>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What it does:</a:t>
            </a:r>
            <a:r>
              <a:rPr lang="en-US" sz="1500" dirty="0">
                <a:solidFill>
                  <a:srgbClr val="D7E5D8"/>
                </a:solidFill>
                <a:latin typeface="Syne" pitchFamily="34" charset="0"/>
                <a:ea typeface="Syne" pitchFamily="34" charset="-122"/>
                <a:cs typeface="Syne" pitchFamily="34" charset="-120"/>
              </a:rPr>
              <a:t> Modifies BCE to down-weight easy correct predictions and focus on hard misclassified examples.</a:t>
            </a:r>
            <a:endParaRPr lang="en-US" sz="1500" dirty="0"/>
          </a:p>
        </p:txBody>
      </p:sp>
      <p:sp>
        <p:nvSpPr>
          <p:cNvPr id="8" name="Text 5"/>
          <p:cNvSpPr/>
          <p:nvPr/>
        </p:nvSpPr>
        <p:spPr>
          <a:xfrm>
            <a:off x="787956" y="4478536"/>
            <a:ext cx="6293763" cy="846534"/>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Relevance to project:</a:t>
            </a:r>
            <a:r>
              <a:rPr lang="en-US" sz="1500" dirty="0">
                <a:solidFill>
                  <a:srgbClr val="D7E5D8"/>
                </a:solidFill>
                <a:latin typeface="Syne" pitchFamily="34" charset="0"/>
                <a:ea typeface="Syne" pitchFamily="34" charset="-122"/>
                <a:cs typeface="Syne" pitchFamily="34" charset="-120"/>
              </a:rPr>
              <a:t> Hallucination-prone models say "yes" excessively; easy "no" answers dominate the gradient without helping. Focal Loss prevents this.</a:t>
            </a:r>
            <a:endParaRPr lang="en-US" sz="1500" dirty="0"/>
          </a:p>
        </p:txBody>
      </p:sp>
      <p:sp>
        <p:nvSpPr>
          <p:cNvPr id="9" name="Text 6"/>
          <p:cNvSpPr/>
          <p:nvPr/>
        </p:nvSpPr>
        <p:spPr>
          <a:xfrm>
            <a:off x="787956" y="5470327"/>
            <a:ext cx="6293763" cy="564356"/>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Advantage:</a:t>
            </a:r>
            <a:r>
              <a:rPr lang="en-US" sz="1500" dirty="0">
                <a:solidFill>
                  <a:srgbClr val="D7E5D8"/>
                </a:solidFill>
                <a:latin typeface="Syne" pitchFamily="34" charset="0"/>
                <a:ea typeface="Syne" pitchFamily="34" charset="-122"/>
                <a:cs typeface="Syne" pitchFamily="34" charset="-120"/>
              </a:rPr>
              <a:t> Directly addresses class imbalance; reduces to BCE when γ=0</a:t>
            </a:r>
            <a:endParaRPr lang="en-US" sz="1500" dirty="0"/>
          </a:p>
        </p:txBody>
      </p:sp>
      <p:sp>
        <p:nvSpPr>
          <p:cNvPr id="10" name="Text 7"/>
          <p:cNvSpPr/>
          <p:nvPr/>
        </p:nvSpPr>
        <p:spPr>
          <a:xfrm>
            <a:off x="787956" y="6179939"/>
            <a:ext cx="6293763" cy="564356"/>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Limitation:</a:t>
            </a:r>
            <a:r>
              <a:rPr lang="en-US" sz="1500" dirty="0">
                <a:solidFill>
                  <a:srgbClr val="D7E5D8"/>
                </a:solidFill>
                <a:latin typeface="Syne" pitchFamily="34" charset="0"/>
                <a:ea typeface="Syne" pitchFamily="34" charset="-122"/>
                <a:cs typeface="Syne" pitchFamily="34" charset="-120"/>
              </a:rPr>
              <a:t> Introduces γ hyperparameter requiring tuning; unnecessary when data is balanced</a:t>
            </a:r>
            <a:endParaRPr lang="en-US" sz="1500" dirty="0"/>
          </a:p>
        </p:txBody>
      </p:sp>
      <p:sp>
        <p:nvSpPr>
          <p:cNvPr id="11" name="Text 8"/>
          <p:cNvSpPr/>
          <p:nvPr/>
        </p:nvSpPr>
        <p:spPr>
          <a:xfrm>
            <a:off x="787956" y="6889552"/>
            <a:ext cx="6293763" cy="564356"/>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Why not used as primary:</a:t>
            </a:r>
            <a:r>
              <a:rPr lang="en-US" sz="1500" dirty="0">
                <a:solidFill>
                  <a:srgbClr val="D7E5D8"/>
                </a:solidFill>
                <a:latin typeface="Syne" pitchFamily="34" charset="0"/>
                <a:ea typeface="Syne" pitchFamily="34" charset="-122"/>
                <a:cs typeface="Syne" pitchFamily="34" charset="-120"/>
              </a:rPr>
              <a:t> POPE's three splits are balanced by design; BCE is sufficient.</a:t>
            </a:r>
            <a:endParaRPr lang="en-US" sz="1500" dirty="0"/>
          </a:p>
        </p:txBody>
      </p:sp>
      <p:sp>
        <p:nvSpPr>
          <p:cNvPr id="12" name="Text 9"/>
          <p:cNvSpPr/>
          <p:nvPr/>
        </p:nvSpPr>
        <p:spPr>
          <a:xfrm>
            <a:off x="7556302" y="2230160"/>
            <a:ext cx="5998012" cy="358735"/>
          </a:xfrm>
          <a:prstGeom prst="rect">
            <a:avLst/>
          </a:prstGeom>
          <a:noFill/>
          <a:ln/>
        </p:spPr>
        <p:txBody>
          <a:bodyPr wrap="none" lIns="0" tIns="0" rIns="0" bIns="0" rtlCol="0" anchor="t"/>
          <a:lstStyle/>
          <a:p>
            <a:pPr marL="0" indent="0" algn="l">
              <a:lnSpc>
                <a:spcPts val="2800"/>
              </a:lnSpc>
              <a:buNone/>
            </a:pPr>
            <a:r>
              <a:rPr lang="en-US" sz="2250" b="1" dirty="0">
                <a:solidFill>
                  <a:srgbClr val="81B61C"/>
                </a:solidFill>
                <a:latin typeface="Syne Extra Bold" pitchFamily="34" charset="0"/>
                <a:ea typeface="Syne Extra Bold" pitchFamily="34" charset="-122"/>
                <a:cs typeface="Syne Extra Bold" pitchFamily="34" charset="-120"/>
              </a:rPr>
              <a:t>Token-level Cross-Entropy</a:t>
            </a:r>
            <a:endParaRPr lang="en-US" sz="2250" dirty="0"/>
          </a:p>
        </p:txBody>
      </p:sp>
      <p:sp>
        <p:nvSpPr>
          <p:cNvPr id="13" name="Text 10"/>
          <p:cNvSpPr/>
          <p:nvPr/>
        </p:nvSpPr>
        <p:spPr>
          <a:xfrm>
            <a:off x="7556302" y="2750344"/>
            <a:ext cx="6293763" cy="282178"/>
          </a:xfrm>
          <a:prstGeom prst="rect">
            <a:avLst/>
          </a:prstGeom>
          <a:noFill/>
          <a:ln/>
        </p:spPr>
        <p:txBody>
          <a:bodyPr wrap="non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Formula:</a:t>
            </a:r>
            <a:endParaRPr lang="en-US" sz="1500" dirty="0"/>
          </a:p>
        </p:txBody>
      </p:sp>
      <p:sp>
        <p:nvSpPr>
          <p:cNvPr id="14" name="Text 11"/>
          <p:cNvSpPr/>
          <p:nvPr/>
        </p:nvSpPr>
        <p:spPr>
          <a:xfrm>
            <a:off x="7556302" y="3236833"/>
            <a:ext cx="6293763" cy="327779"/>
          </a:xfrm>
          <a:prstGeom prst="rect">
            <a:avLst/>
          </a:prstGeom>
          <a:noFill/>
          <a:ln/>
        </p:spPr>
        <p:txBody>
          <a:bodyPr wrap="none" lIns="0" tIns="0" rIns="0" bIns="0" rtlCol="0" anchor="t"/>
          <a:lstStyle/>
          <a:p>
            <a:pPr marL="0" indent="0" algn="l">
              <a:lnSpc>
                <a:spcPts val="2500"/>
              </a:lnSpc>
              <a:buNone/>
            </a:pPr>
            <a:endParaRPr lang="en-US" sz="1650" dirty="0"/>
          </a:p>
        </p:txBody>
      </p:sp>
      <p:pic>
        <p:nvPicPr>
          <p:cNvPr id="15" name="Image 1" descr="preencoded.png"/>
          <p:cNvPicPr>
            <a:picLocks noChangeAspect="1"/>
          </p:cNvPicPr>
          <p:nvPr/>
        </p:nvPicPr>
        <p:blipFill>
          <a:blip r:embed="rId4"/>
          <a:stretch>
            <a:fillRect/>
          </a:stretch>
        </p:blipFill>
        <p:spPr>
          <a:xfrm>
            <a:off x="7556302" y="3236833"/>
            <a:ext cx="6293763" cy="327779"/>
          </a:xfrm>
          <a:prstGeom prst="rect">
            <a:avLst/>
          </a:prstGeom>
        </p:spPr>
      </p:pic>
      <p:sp>
        <p:nvSpPr>
          <p:cNvPr id="16" name="Text 12"/>
          <p:cNvSpPr/>
          <p:nvPr/>
        </p:nvSpPr>
        <p:spPr>
          <a:xfrm>
            <a:off x="7556302" y="3768923"/>
            <a:ext cx="6293763" cy="564356"/>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What it does:</a:t>
            </a:r>
            <a:r>
              <a:rPr lang="en-US" sz="1500" dirty="0">
                <a:solidFill>
                  <a:srgbClr val="D7E5D8"/>
                </a:solidFill>
                <a:latin typeface="Syne" pitchFamily="34" charset="0"/>
                <a:ea typeface="Syne" pitchFamily="34" charset="-122"/>
                <a:cs typeface="Syne" pitchFamily="34" charset="-120"/>
              </a:rPr>
              <a:t> At every position in the output, measures how wrong the model's token probability distribution is against the true next token.</a:t>
            </a:r>
            <a:endParaRPr lang="en-US" sz="1500" dirty="0"/>
          </a:p>
        </p:txBody>
      </p:sp>
      <p:sp>
        <p:nvSpPr>
          <p:cNvPr id="17" name="Text 13"/>
          <p:cNvSpPr/>
          <p:nvPr/>
        </p:nvSpPr>
        <p:spPr>
          <a:xfrm>
            <a:off x="7556302" y="4478536"/>
            <a:ext cx="6293763" cy="564356"/>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Relevance to project:</a:t>
            </a:r>
            <a:r>
              <a:rPr lang="en-US" sz="1500" dirty="0">
                <a:solidFill>
                  <a:srgbClr val="D7E5D8"/>
                </a:solidFill>
                <a:latin typeface="Syne" pitchFamily="34" charset="0"/>
                <a:ea typeface="Syne" pitchFamily="34" charset="-122"/>
                <a:cs typeface="Syne" pitchFamily="34" charset="-120"/>
              </a:rPr>
              <a:t> Training loss for both QLoRA fine-tuning and CVAA training. Every weight update in both phases is driven by this loss.</a:t>
            </a:r>
            <a:endParaRPr lang="en-US" sz="1500" dirty="0"/>
          </a:p>
        </p:txBody>
      </p:sp>
      <p:sp>
        <p:nvSpPr>
          <p:cNvPr id="18" name="Text 14"/>
          <p:cNvSpPr/>
          <p:nvPr/>
        </p:nvSpPr>
        <p:spPr>
          <a:xfrm>
            <a:off x="7556302" y="5188148"/>
            <a:ext cx="6293763" cy="564356"/>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Advantage:</a:t>
            </a:r>
            <a:r>
              <a:rPr lang="en-US" sz="1500" dirty="0">
                <a:solidFill>
                  <a:srgbClr val="D7E5D8"/>
                </a:solidFill>
                <a:latin typeface="Syne" pitchFamily="34" charset="0"/>
                <a:ea typeface="Syne" pitchFamily="34" charset="-122"/>
                <a:cs typeface="Syne" pitchFamily="34" charset="-120"/>
              </a:rPr>
              <a:t> Smooth gradients, computationally efficient, universal across all LLM research</a:t>
            </a:r>
            <a:endParaRPr lang="en-US" sz="1500" dirty="0"/>
          </a:p>
        </p:txBody>
      </p:sp>
      <p:sp>
        <p:nvSpPr>
          <p:cNvPr id="19" name="Text 15"/>
          <p:cNvSpPr/>
          <p:nvPr/>
        </p:nvSpPr>
        <p:spPr>
          <a:xfrm>
            <a:off x="7556302" y="5897761"/>
            <a:ext cx="6293763" cy="564356"/>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Limitation:</a:t>
            </a:r>
            <a:r>
              <a:rPr lang="en-US" sz="1500" dirty="0">
                <a:solidFill>
                  <a:srgbClr val="D7E5D8"/>
                </a:solidFill>
                <a:latin typeface="Syne" pitchFamily="34" charset="0"/>
                <a:ea typeface="Syne" pitchFamily="34" charset="-122"/>
                <a:cs typeface="Syne" pitchFamily="34" charset="-120"/>
              </a:rPr>
              <a:t> Optimises fluency, not factual correctness; model can hallucinate while achieving low loss</a:t>
            </a:r>
            <a:endParaRPr lang="en-US" sz="1500" dirty="0"/>
          </a:p>
        </p:txBody>
      </p:sp>
      <p:sp>
        <p:nvSpPr>
          <p:cNvPr id="20" name="Rectangle 19">
            <a:extLst>
              <a:ext uri="{FF2B5EF4-FFF2-40B4-BE49-F238E27FC236}">
                <a16:creationId xmlns:a16="http://schemas.microsoft.com/office/drawing/2014/main" id="{1EA25B6F-A4F0-2279-B0DB-6D82820D05A2}"/>
              </a:ext>
            </a:extLst>
          </p:cNvPr>
          <p:cNvSpPr/>
          <p:nvPr/>
        </p:nvSpPr>
        <p:spPr>
          <a:xfrm>
            <a:off x="11978521" y="7300436"/>
            <a:ext cx="2573820" cy="877990"/>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73298"/>
            <a:ext cx="13042821" cy="1275874"/>
          </a:xfrm>
          <a:prstGeom prst="rect">
            <a:avLst/>
          </a:prstGeom>
          <a:noFill/>
          <a:ln/>
        </p:spPr>
        <p:txBody>
          <a:bodyPr wrap="square" lIns="0" tIns="0" rIns="0" bIns="0" rtlCol="0" anchor="t"/>
          <a:lstStyle/>
          <a:p>
            <a:pPr marL="0" indent="0" algn="l">
              <a:lnSpc>
                <a:spcPts val="5000"/>
              </a:lnSpc>
              <a:buNone/>
            </a:pPr>
            <a:r>
              <a:rPr lang="en-US" sz="4000" b="1" dirty="0">
                <a:solidFill>
                  <a:srgbClr val="F0F4F1"/>
                </a:solidFill>
                <a:latin typeface="Syne Extra Bold" pitchFamily="34" charset="0"/>
                <a:ea typeface="Syne Extra Bold" pitchFamily="34" charset="-122"/>
                <a:cs typeface="Syne Extra Bold" pitchFamily="34" charset="-120"/>
              </a:rPr>
              <a:t>Comparing All Four Loss Functions</a:t>
            </a:r>
            <a:endParaRPr lang="en-US" sz="4000" dirty="0"/>
          </a:p>
        </p:txBody>
      </p:sp>
      <p:sp>
        <p:nvSpPr>
          <p:cNvPr id="3" name="Shape 1"/>
          <p:cNvSpPr/>
          <p:nvPr/>
        </p:nvSpPr>
        <p:spPr>
          <a:xfrm>
            <a:off x="793790" y="2316599"/>
            <a:ext cx="13042821" cy="3910489"/>
          </a:xfrm>
          <a:prstGeom prst="roundRect">
            <a:avLst>
              <a:gd name="adj" fmla="val 2193"/>
            </a:avLst>
          </a:prstGeom>
          <a:noFill/>
          <a:ln w="7620">
            <a:solidFill>
              <a:srgbClr val="FFFFFF">
                <a:alpha val="24000"/>
              </a:srgbClr>
            </a:solidFill>
            <a:prstDash val="solid"/>
          </a:ln>
        </p:spPr>
        <p:txBody>
          <a:bodyPr/>
          <a:lstStyle/>
          <a:p>
            <a:endParaRPr lang="en-PK"/>
          </a:p>
        </p:txBody>
      </p:sp>
      <p:sp>
        <p:nvSpPr>
          <p:cNvPr id="4" name="Shape 2"/>
          <p:cNvSpPr/>
          <p:nvPr/>
        </p:nvSpPr>
        <p:spPr>
          <a:xfrm>
            <a:off x="801410" y="2324219"/>
            <a:ext cx="13027581" cy="545783"/>
          </a:xfrm>
          <a:prstGeom prst="rect">
            <a:avLst/>
          </a:prstGeom>
          <a:solidFill>
            <a:srgbClr val="FFFFFF">
              <a:alpha val="4000"/>
            </a:srgbClr>
          </a:solidFill>
          <a:ln/>
        </p:spPr>
        <p:txBody>
          <a:bodyPr/>
          <a:lstStyle/>
          <a:p>
            <a:endParaRPr lang="en-PK"/>
          </a:p>
        </p:txBody>
      </p:sp>
      <p:sp>
        <p:nvSpPr>
          <p:cNvPr id="5" name="Text 3"/>
          <p:cNvSpPr/>
          <p:nvPr/>
        </p:nvSpPr>
        <p:spPr>
          <a:xfrm>
            <a:off x="1005840" y="2441972"/>
            <a:ext cx="2193488" cy="310277"/>
          </a:xfrm>
          <a:prstGeom prst="rect">
            <a:avLst/>
          </a:prstGeom>
          <a:noFill/>
          <a:ln/>
        </p:spPr>
        <p:txBody>
          <a:bodyPr wrap="none" lIns="0" tIns="0" rIns="0" bIns="0" rtlCol="0" anchor="t"/>
          <a:lstStyle/>
          <a:p>
            <a:pPr marL="0" indent="0" algn="l">
              <a:lnSpc>
                <a:spcPts val="2400"/>
              </a:lnSpc>
              <a:buNone/>
            </a:pPr>
            <a:endParaRPr lang="en-US" sz="1600" dirty="0"/>
          </a:p>
        </p:txBody>
      </p:sp>
      <p:sp>
        <p:nvSpPr>
          <p:cNvPr id="6" name="Text 4"/>
          <p:cNvSpPr/>
          <p:nvPr/>
        </p:nvSpPr>
        <p:spPr>
          <a:xfrm>
            <a:off x="3615095" y="2441972"/>
            <a:ext cx="218967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Contrastive Loss</a:t>
            </a:r>
            <a:endParaRPr lang="en-US" sz="1600" dirty="0"/>
          </a:p>
        </p:txBody>
      </p:sp>
      <p:sp>
        <p:nvSpPr>
          <p:cNvPr id="7" name="Text 5"/>
          <p:cNvSpPr/>
          <p:nvPr/>
        </p:nvSpPr>
        <p:spPr>
          <a:xfrm>
            <a:off x="6220539" y="2441972"/>
            <a:ext cx="218967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BCE</a:t>
            </a:r>
            <a:endParaRPr lang="en-US" sz="1600" dirty="0"/>
          </a:p>
        </p:txBody>
      </p:sp>
      <p:sp>
        <p:nvSpPr>
          <p:cNvPr id="8" name="Text 6"/>
          <p:cNvSpPr/>
          <p:nvPr/>
        </p:nvSpPr>
        <p:spPr>
          <a:xfrm>
            <a:off x="8825984" y="2441972"/>
            <a:ext cx="218967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Focal Loss</a:t>
            </a:r>
            <a:endParaRPr lang="en-US" sz="1600" dirty="0"/>
          </a:p>
        </p:txBody>
      </p:sp>
      <p:sp>
        <p:nvSpPr>
          <p:cNvPr id="9" name="Text 7"/>
          <p:cNvSpPr/>
          <p:nvPr/>
        </p:nvSpPr>
        <p:spPr>
          <a:xfrm>
            <a:off x="11431429" y="2441972"/>
            <a:ext cx="219348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Token-level CE</a:t>
            </a:r>
            <a:endParaRPr lang="en-US" sz="1600" dirty="0"/>
          </a:p>
        </p:txBody>
      </p:sp>
      <p:sp>
        <p:nvSpPr>
          <p:cNvPr id="10" name="Shape 8"/>
          <p:cNvSpPr/>
          <p:nvPr/>
        </p:nvSpPr>
        <p:spPr>
          <a:xfrm>
            <a:off x="801410" y="2870002"/>
            <a:ext cx="13027581" cy="545783"/>
          </a:xfrm>
          <a:prstGeom prst="rect">
            <a:avLst/>
          </a:prstGeom>
          <a:solidFill>
            <a:srgbClr val="000000">
              <a:alpha val="4000"/>
            </a:srgbClr>
          </a:solidFill>
          <a:ln/>
        </p:spPr>
        <p:txBody>
          <a:bodyPr/>
          <a:lstStyle/>
          <a:p>
            <a:endParaRPr lang="en-PK"/>
          </a:p>
        </p:txBody>
      </p:sp>
      <p:sp>
        <p:nvSpPr>
          <p:cNvPr id="11" name="Text 9"/>
          <p:cNvSpPr/>
          <p:nvPr/>
        </p:nvSpPr>
        <p:spPr>
          <a:xfrm>
            <a:off x="1005840" y="2987754"/>
            <a:ext cx="219348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Used at</a:t>
            </a:r>
            <a:endParaRPr lang="en-US" sz="1600" dirty="0"/>
          </a:p>
        </p:txBody>
      </p:sp>
      <p:sp>
        <p:nvSpPr>
          <p:cNvPr id="12" name="Text 10"/>
          <p:cNvSpPr/>
          <p:nvPr/>
        </p:nvSpPr>
        <p:spPr>
          <a:xfrm>
            <a:off x="3615095" y="2987754"/>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CLIP pre-training</a:t>
            </a:r>
            <a:endParaRPr lang="en-US" sz="1600" dirty="0"/>
          </a:p>
        </p:txBody>
      </p:sp>
      <p:sp>
        <p:nvSpPr>
          <p:cNvPr id="13" name="Text 11"/>
          <p:cNvSpPr/>
          <p:nvPr/>
        </p:nvSpPr>
        <p:spPr>
          <a:xfrm>
            <a:off x="6220539" y="2987754"/>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Evaluation (POPE)</a:t>
            </a:r>
            <a:endParaRPr lang="en-US" sz="1600" dirty="0"/>
          </a:p>
        </p:txBody>
      </p:sp>
      <p:sp>
        <p:nvSpPr>
          <p:cNvPr id="14" name="Text 12"/>
          <p:cNvSpPr/>
          <p:nvPr/>
        </p:nvSpPr>
        <p:spPr>
          <a:xfrm>
            <a:off x="8825984" y="2987754"/>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Considered for training</a:t>
            </a:r>
            <a:endParaRPr lang="en-US" sz="1600" dirty="0"/>
          </a:p>
        </p:txBody>
      </p:sp>
      <p:sp>
        <p:nvSpPr>
          <p:cNvPr id="15" name="Text 13"/>
          <p:cNvSpPr/>
          <p:nvPr/>
        </p:nvSpPr>
        <p:spPr>
          <a:xfrm>
            <a:off x="11431429" y="2987754"/>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QLoRA + CVAA training</a:t>
            </a:r>
            <a:endParaRPr lang="en-US" sz="1600" dirty="0"/>
          </a:p>
        </p:txBody>
      </p:sp>
      <p:sp>
        <p:nvSpPr>
          <p:cNvPr id="16" name="Shape 14"/>
          <p:cNvSpPr/>
          <p:nvPr/>
        </p:nvSpPr>
        <p:spPr>
          <a:xfrm>
            <a:off x="801410" y="3415784"/>
            <a:ext cx="13027581" cy="545783"/>
          </a:xfrm>
          <a:prstGeom prst="rect">
            <a:avLst/>
          </a:prstGeom>
          <a:solidFill>
            <a:srgbClr val="FFFFFF">
              <a:alpha val="4000"/>
            </a:srgbClr>
          </a:solidFill>
          <a:ln/>
        </p:spPr>
        <p:txBody>
          <a:bodyPr/>
          <a:lstStyle/>
          <a:p>
            <a:endParaRPr lang="en-PK"/>
          </a:p>
        </p:txBody>
      </p:sp>
      <p:sp>
        <p:nvSpPr>
          <p:cNvPr id="17" name="Text 15"/>
          <p:cNvSpPr/>
          <p:nvPr/>
        </p:nvSpPr>
        <p:spPr>
          <a:xfrm>
            <a:off x="1005840" y="3533537"/>
            <a:ext cx="219348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Optimises for</a:t>
            </a:r>
            <a:endParaRPr lang="en-US" sz="1600" dirty="0"/>
          </a:p>
        </p:txBody>
      </p:sp>
      <p:sp>
        <p:nvSpPr>
          <p:cNvPr id="18" name="Text 16"/>
          <p:cNvSpPr/>
          <p:nvPr/>
        </p:nvSpPr>
        <p:spPr>
          <a:xfrm>
            <a:off x="3615095" y="3533537"/>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Cross-modal alignment</a:t>
            </a:r>
            <a:endParaRPr lang="en-US" sz="1600" dirty="0"/>
          </a:p>
        </p:txBody>
      </p:sp>
      <p:sp>
        <p:nvSpPr>
          <p:cNvPr id="19" name="Text 17"/>
          <p:cNvSpPr/>
          <p:nvPr/>
        </p:nvSpPr>
        <p:spPr>
          <a:xfrm>
            <a:off x="6220539" y="3533537"/>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Binary correctness</a:t>
            </a:r>
            <a:endParaRPr lang="en-US" sz="1600" dirty="0"/>
          </a:p>
        </p:txBody>
      </p:sp>
      <p:sp>
        <p:nvSpPr>
          <p:cNvPr id="20" name="Text 18"/>
          <p:cNvSpPr/>
          <p:nvPr/>
        </p:nvSpPr>
        <p:spPr>
          <a:xfrm>
            <a:off x="8825984" y="3533537"/>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Hard example focus</a:t>
            </a:r>
            <a:endParaRPr lang="en-US" sz="1600" dirty="0"/>
          </a:p>
        </p:txBody>
      </p:sp>
      <p:sp>
        <p:nvSpPr>
          <p:cNvPr id="21" name="Text 19"/>
          <p:cNvSpPr/>
          <p:nvPr/>
        </p:nvSpPr>
        <p:spPr>
          <a:xfrm>
            <a:off x="11431429" y="3533537"/>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Next-token prediction</a:t>
            </a:r>
            <a:endParaRPr lang="en-US" sz="1600" dirty="0"/>
          </a:p>
        </p:txBody>
      </p:sp>
      <p:sp>
        <p:nvSpPr>
          <p:cNvPr id="22" name="Shape 20"/>
          <p:cNvSpPr/>
          <p:nvPr/>
        </p:nvSpPr>
        <p:spPr>
          <a:xfrm>
            <a:off x="801410" y="3961567"/>
            <a:ext cx="13027581" cy="545783"/>
          </a:xfrm>
          <a:prstGeom prst="rect">
            <a:avLst/>
          </a:prstGeom>
          <a:solidFill>
            <a:srgbClr val="000000">
              <a:alpha val="4000"/>
            </a:srgbClr>
          </a:solidFill>
          <a:ln/>
        </p:spPr>
        <p:txBody>
          <a:bodyPr/>
          <a:lstStyle/>
          <a:p>
            <a:endParaRPr lang="en-PK"/>
          </a:p>
        </p:txBody>
      </p:sp>
      <p:sp>
        <p:nvSpPr>
          <p:cNvPr id="23" name="Text 21"/>
          <p:cNvSpPr/>
          <p:nvPr/>
        </p:nvSpPr>
        <p:spPr>
          <a:xfrm>
            <a:off x="1005840" y="4079319"/>
            <a:ext cx="219348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Handles imbalance</a:t>
            </a:r>
            <a:endParaRPr lang="en-US" sz="1600" dirty="0"/>
          </a:p>
        </p:txBody>
      </p:sp>
      <p:sp>
        <p:nvSpPr>
          <p:cNvPr id="24" name="Text 22"/>
          <p:cNvSpPr/>
          <p:nvPr/>
        </p:nvSpPr>
        <p:spPr>
          <a:xfrm>
            <a:off x="3615095" y="4079319"/>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No</a:t>
            </a:r>
            <a:endParaRPr lang="en-US" sz="1600" dirty="0"/>
          </a:p>
        </p:txBody>
      </p:sp>
      <p:sp>
        <p:nvSpPr>
          <p:cNvPr id="25" name="Text 23"/>
          <p:cNvSpPr/>
          <p:nvPr/>
        </p:nvSpPr>
        <p:spPr>
          <a:xfrm>
            <a:off x="6220539" y="4079319"/>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No</a:t>
            </a:r>
            <a:endParaRPr lang="en-US" sz="1600" dirty="0"/>
          </a:p>
        </p:txBody>
      </p:sp>
      <p:sp>
        <p:nvSpPr>
          <p:cNvPr id="26" name="Text 24"/>
          <p:cNvSpPr/>
          <p:nvPr/>
        </p:nvSpPr>
        <p:spPr>
          <a:xfrm>
            <a:off x="8825984" y="4079319"/>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Yes</a:t>
            </a:r>
            <a:endParaRPr lang="en-US" sz="1600" dirty="0"/>
          </a:p>
        </p:txBody>
      </p:sp>
      <p:sp>
        <p:nvSpPr>
          <p:cNvPr id="27" name="Text 25"/>
          <p:cNvSpPr/>
          <p:nvPr/>
        </p:nvSpPr>
        <p:spPr>
          <a:xfrm>
            <a:off x="11431429" y="4079319"/>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No</a:t>
            </a:r>
            <a:endParaRPr lang="en-US" sz="1600" dirty="0"/>
          </a:p>
        </p:txBody>
      </p:sp>
      <p:sp>
        <p:nvSpPr>
          <p:cNvPr id="28" name="Shape 26"/>
          <p:cNvSpPr/>
          <p:nvPr/>
        </p:nvSpPr>
        <p:spPr>
          <a:xfrm>
            <a:off x="801410" y="4507349"/>
            <a:ext cx="13027581" cy="856059"/>
          </a:xfrm>
          <a:prstGeom prst="rect">
            <a:avLst/>
          </a:prstGeom>
          <a:solidFill>
            <a:srgbClr val="FFFFFF">
              <a:alpha val="4000"/>
            </a:srgbClr>
          </a:solidFill>
          <a:ln/>
        </p:spPr>
        <p:txBody>
          <a:bodyPr/>
          <a:lstStyle/>
          <a:p>
            <a:endParaRPr lang="en-PK"/>
          </a:p>
        </p:txBody>
      </p:sp>
      <p:sp>
        <p:nvSpPr>
          <p:cNvPr id="29" name="Text 27"/>
          <p:cNvSpPr/>
          <p:nvPr/>
        </p:nvSpPr>
        <p:spPr>
          <a:xfrm>
            <a:off x="1005840" y="4625102"/>
            <a:ext cx="219348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Key limitation</a:t>
            </a:r>
            <a:endParaRPr lang="en-US" sz="1600" dirty="0"/>
          </a:p>
        </p:txBody>
      </p:sp>
      <p:sp>
        <p:nvSpPr>
          <p:cNvPr id="30" name="Text 28"/>
          <p:cNvSpPr/>
          <p:nvPr/>
        </p:nvSpPr>
        <p:spPr>
          <a:xfrm>
            <a:off x="3615095" y="4625102"/>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English-biased</a:t>
            </a:r>
            <a:endParaRPr lang="en-US" sz="1600" dirty="0"/>
          </a:p>
        </p:txBody>
      </p:sp>
      <p:sp>
        <p:nvSpPr>
          <p:cNvPr id="31" name="Text 29"/>
          <p:cNvSpPr/>
          <p:nvPr/>
        </p:nvSpPr>
        <p:spPr>
          <a:xfrm>
            <a:off x="6220539" y="4625102"/>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Imbalance-sensitive</a:t>
            </a:r>
            <a:endParaRPr lang="en-US" sz="1600" dirty="0"/>
          </a:p>
        </p:txBody>
      </p:sp>
      <p:sp>
        <p:nvSpPr>
          <p:cNvPr id="32" name="Text 30"/>
          <p:cNvSpPr/>
          <p:nvPr/>
        </p:nvSpPr>
        <p:spPr>
          <a:xfrm>
            <a:off x="8825984" y="4625102"/>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γ tuning needed</a:t>
            </a:r>
            <a:endParaRPr lang="en-US" sz="1600" dirty="0"/>
          </a:p>
        </p:txBody>
      </p:sp>
      <p:sp>
        <p:nvSpPr>
          <p:cNvPr id="33" name="Text 31"/>
          <p:cNvSpPr/>
          <p:nvPr/>
        </p:nvSpPr>
        <p:spPr>
          <a:xfrm>
            <a:off x="11431429" y="4625102"/>
            <a:ext cx="219348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Doesn't optimise factual accuracy</a:t>
            </a:r>
            <a:endParaRPr lang="en-US" sz="1600" dirty="0"/>
          </a:p>
        </p:txBody>
      </p:sp>
      <p:sp>
        <p:nvSpPr>
          <p:cNvPr id="34" name="Shape 32"/>
          <p:cNvSpPr/>
          <p:nvPr/>
        </p:nvSpPr>
        <p:spPr>
          <a:xfrm>
            <a:off x="801410" y="5363408"/>
            <a:ext cx="13027581" cy="856059"/>
          </a:xfrm>
          <a:prstGeom prst="rect">
            <a:avLst/>
          </a:prstGeom>
          <a:solidFill>
            <a:srgbClr val="000000">
              <a:alpha val="4000"/>
            </a:srgbClr>
          </a:solidFill>
          <a:ln/>
        </p:spPr>
        <p:txBody>
          <a:bodyPr/>
          <a:lstStyle/>
          <a:p>
            <a:endParaRPr lang="en-PK"/>
          </a:p>
        </p:txBody>
      </p:sp>
      <p:sp>
        <p:nvSpPr>
          <p:cNvPr id="35" name="Text 33"/>
          <p:cNvSpPr/>
          <p:nvPr/>
        </p:nvSpPr>
        <p:spPr>
          <a:xfrm>
            <a:off x="1005840" y="5481161"/>
            <a:ext cx="219348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Role in project</a:t>
            </a:r>
            <a:endParaRPr lang="en-US" sz="1600" dirty="0"/>
          </a:p>
        </p:txBody>
      </p:sp>
      <p:sp>
        <p:nvSpPr>
          <p:cNvPr id="36" name="Text 34"/>
          <p:cNvSpPr/>
          <p:nvPr/>
        </p:nvSpPr>
        <p:spPr>
          <a:xfrm>
            <a:off x="3615095" y="5481161"/>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Motivates CVAA</a:t>
            </a:r>
            <a:endParaRPr lang="en-US" sz="1600" dirty="0"/>
          </a:p>
        </p:txBody>
      </p:sp>
      <p:sp>
        <p:nvSpPr>
          <p:cNvPr id="37" name="Text 35"/>
          <p:cNvSpPr/>
          <p:nvPr/>
        </p:nvSpPr>
        <p:spPr>
          <a:xfrm>
            <a:off x="6220539" y="5481161"/>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Frames evaluation</a:t>
            </a:r>
            <a:endParaRPr lang="en-US" sz="1600" dirty="0"/>
          </a:p>
        </p:txBody>
      </p:sp>
      <p:sp>
        <p:nvSpPr>
          <p:cNvPr id="38" name="Text 36"/>
          <p:cNvSpPr/>
          <p:nvPr/>
        </p:nvSpPr>
        <p:spPr>
          <a:xfrm>
            <a:off x="8825984" y="5481161"/>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Considered, not adopted</a:t>
            </a:r>
            <a:endParaRPr lang="en-US" sz="1600" dirty="0"/>
          </a:p>
        </p:txBody>
      </p:sp>
      <p:sp>
        <p:nvSpPr>
          <p:cNvPr id="39" name="Text 37"/>
          <p:cNvSpPr/>
          <p:nvPr/>
        </p:nvSpPr>
        <p:spPr>
          <a:xfrm>
            <a:off x="11431429" y="5481161"/>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Primary training loss</a:t>
            </a:r>
            <a:endParaRPr lang="en-US" sz="1600" dirty="0"/>
          </a:p>
        </p:txBody>
      </p:sp>
      <p:sp>
        <p:nvSpPr>
          <p:cNvPr id="40" name="Shape 38"/>
          <p:cNvSpPr/>
          <p:nvPr/>
        </p:nvSpPr>
        <p:spPr>
          <a:xfrm>
            <a:off x="793790" y="6433780"/>
            <a:ext cx="13042821" cy="1122521"/>
          </a:xfrm>
          <a:prstGeom prst="roundRect">
            <a:avLst>
              <a:gd name="adj" fmla="val 7638"/>
            </a:avLst>
          </a:prstGeom>
          <a:solidFill>
            <a:srgbClr val="334805"/>
          </a:solidFill>
          <a:ln/>
        </p:spPr>
        <p:txBody>
          <a:bodyPr/>
          <a:lstStyle/>
          <a:p>
            <a:endParaRPr lang="en-PK"/>
          </a:p>
        </p:txBody>
      </p:sp>
      <p:pic>
        <p:nvPicPr>
          <p:cNvPr id="41" name="Image 0" descr="preencoded.png"/>
          <p:cNvPicPr>
            <a:picLocks noChangeAspect="1"/>
          </p:cNvPicPr>
          <p:nvPr/>
        </p:nvPicPr>
        <p:blipFill>
          <a:blip r:embed="rId3"/>
          <a:stretch>
            <a:fillRect/>
          </a:stretch>
        </p:blipFill>
        <p:spPr>
          <a:xfrm>
            <a:off x="997863" y="6731198"/>
            <a:ext cx="255151" cy="204073"/>
          </a:xfrm>
          <a:prstGeom prst="rect">
            <a:avLst/>
          </a:prstGeom>
        </p:spPr>
      </p:pic>
      <p:sp>
        <p:nvSpPr>
          <p:cNvPr id="42" name="Text 39"/>
          <p:cNvSpPr/>
          <p:nvPr/>
        </p:nvSpPr>
        <p:spPr>
          <a:xfrm>
            <a:off x="1457087" y="6668453"/>
            <a:ext cx="12175450" cy="620554"/>
          </a:xfrm>
          <a:prstGeom prst="rect">
            <a:avLst/>
          </a:prstGeom>
          <a:noFill/>
          <a:ln/>
        </p:spPr>
        <p:txBody>
          <a:bodyPr wrap="square" lIns="0" tIns="0" rIns="0" bIns="0" rtlCol="0" anchor="t"/>
          <a:lstStyle/>
          <a:p>
            <a:pPr marL="0" indent="0" algn="l">
              <a:lnSpc>
                <a:spcPts val="2400"/>
              </a:lnSpc>
              <a:buNone/>
            </a:pPr>
            <a:r>
              <a:rPr lang="en-US" sz="1600" b="1" dirty="0">
                <a:solidFill>
                  <a:srgbClr val="FFFFFF"/>
                </a:solidFill>
                <a:latin typeface="Syne" pitchFamily="34" charset="0"/>
                <a:ea typeface="Syne" pitchFamily="34" charset="-122"/>
                <a:cs typeface="Syne" pitchFamily="34" charset="-120"/>
              </a:rPr>
              <a:t>Training-Evaluation Mismatch</a:t>
            </a:r>
            <a:r>
              <a:rPr lang="en-US" sz="1600" dirty="0">
                <a:solidFill>
                  <a:srgbClr val="FFFFFF"/>
                </a:solidFill>
                <a:latin typeface="Syne" pitchFamily="34" charset="0"/>
                <a:ea typeface="Syne" pitchFamily="34" charset="-122"/>
                <a:cs typeface="Syne" pitchFamily="34" charset="-120"/>
              </a:rPr>
              <a:t>: Token-level CE makes the model fluent in Urdu. Our evaluation metrics measure factual accuracy. These are not the same objective, which is exactly why the CVAA module is needed alongside fine-tuning.</a:t>
            </a:r>
            <a:endParaRPr lang="en-US" sz="1600" dirty="0"/>
          </a:p>
        </p:txBody>
      </p:sp>
      <p:sp>
        <p:nvSpPr>
          <p:cNvPr id="43" name="Rectangle 42">
            <a:extLst>
              <a:ext uri="{FF2B5EF4-FFF2-40B4-BE49-F238E27FC236}">
                <a16:creationId xmlns:a16="http://schemas.microsoft.com/office/drawing/2014/main" id="{33E0411E-5536-B2E7-FB6D-4E8486678B53}"/>
              </a:ext>
            </a:extLst>
          </p:cNvPr>
          <p:cNvSpPr/>
          <p:nvPr/>
        </p:nvSpPr>
        <p:spPr>
          <a:xfrm>
            <a:off x="11978521" y="7672038"/>
            <a:ext cx="2573820" cy="506387"/>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62370"/>
            <a:ext cx="11938873" cy="531614"/>
          </a:xfrm>
          <a:prstGeom prst="rect">
            <a:avLst/>
          </a:prstGeom>
          <a:noFill/>
          <a:ln/>
        </p:spPr>
        <p:txBody>
          <a:bodyPr wrap="none" lIns="0" tIns="0" rIns="0" bIns="0" rtlCol="0" anchor="t"/>
          <a:lstStyle/>
          <a:p>
            <a:pPr marL="0" indent="0" algn="l">
              <a:lnSpc>
                <a:spcPts val="4150"/>
              </a:lnSpc>
              <a:buNone/>
            </a:pPr>
            <a:r>
              <a:rPr lang="en-US" sz="3300" b="1" dirty="0">
                <a:solidFill>
                  <a:srgbClr val="F0F4F1"/>
                </a:solidFill>
                <a:latin typeface="Syne Extra Bold" pitchFamily="34" charset="0"/>
                <a:ea typeface="Syne Extra Bold" pitchFamily="34" charset="-122"/>
                <a:cs typeface="Syne Extra Bold" pitchFamily="34" charset="-120"/>
              </a:rPr>
              <a:t>Metrics - CV and Classification Side</a:t>
            </a:r>
            <a:endParaRPr lang="en-US" sz="3300" dirty="0"/>
          </a:p>
        </p:txBody>
      </p:sp>
      <p:sp>
        <p:nvSpPr>
          <p:cNvPr id="3" name="Shape 1"/>
          <p:cNvSpPr/>
          <p:nvPr/>
        </p:nvSpPr>
        <p:spPr>
          <a:xfrm>
            <a:off x="793790" y="1649135"/>
            <a:ext cx="6457593" cy="2462451"/>
          </a:xfrm>
          <a:prstGeom prst="roundRect">
            <a:avLst>
              <a:gd name="adj" fmla="val 2902"/>
            </a:avLst>
          </a:prstGeom>
          <a:solidFill>
            <a:srgbClr val="152025">
              <a:alpha val="95000"/>
            </a:srgbClr>
          </a:solidFill>
          <a:ln w="22860">
            <a:solidFill>
              <a:srgbClr val="6D9121"/>
            </a:solidFill>
            <a:prstDash val="solid"/>
          </a:ln>
        </p:spPr>
        <p:txBody>
          <a:bodyPr/>
          <a:lstStyle/>
          <a:p>
            <a:endParaRPr lang="en-PK"/>
          </a:p>
        </p:txBody>
      </p:sp>
      <p:sp>
        <p:nvSpPr>
          <p:cNvPr id="4" name="Text 2"/>
          <p:cNvSpPr/>
          <p:nvPr/>
        </p:nvSpPr>
        <p:spPr>
          <a:xfrm>
            <a:off x="986671" y="1842016"/>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A9F00F"/>
                </a:solidFill>
                <a:latin typeface="Syne Extra Bold" pitchFamily="34" charset="0"/>
                <a:ea typeface="Syne Extra Bold" pitchFamily="34" charset="-122"/>
                <a:cs typeface="Syne Extra Bold" pitchFamily="34" charset="-120"/>
              </a:rPr>
              <a:t>Accuracy</a:t>
            </a:r>
            <a:endParaRPr lang="en-US" sz="1650" dirty="0"/>
          </a:p>
        </p:txBody>
      </p:sp>
      <p:sp>
        <p:nvSpPr>
          <p:cNvPr id="5" name="Text 3"/>
          <p:cNvSpPr/>
          <p:nvPr/>
        </p:nvSpPr>
        <p:spPr>
          <a:xfrm>
            <a:off x="986671" y="2184202"/>
            <a:ext cx="6071830"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Formula:</a:t>
            </a:r>
            <a:r>
              <a:rPr lang="en-US" sz="1300" dirty="0">
                <a:solidFill>
                  <a:srgbClr val="D7E5D8"/>
                </a:solidFill>
                <a:latin typeface="Syne" pitchFamily="34" charset="0"/>
                <a:ea typeface="Syne" pitchFamily="34" charset="-122"/>
                <a:cs typeface="Syne" pitchFamily="34" charset="-120"/>
              </a:rPr>
              <a:t> Correct predictions / Total predictions</a:t>
            </a:r>
            <a:endParaRPr lang="en-US" sz="1300" dirty="0"/>
          </a:p>
        </p:txBody>
      </p:sp>
      <p:sp>
        <p:nvSpPr>
          <p:cNvPr id="6" name="Text 4"/>
          <p:cNvSpPr/>
          <p:nvPr/>
        </p:nvSpPr>
        <p:spPr>
          <a:xfrm>
            <a:off x="986671" y="2498765"/>
            <a:ext cx="6071830"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Advantage:</a:t>
            </a:r>
            <a:r>
              <a:rPr lang="en-US" sz="1300" dirty="0">
                <a:solidFill>
                  <a:srgbClr val="D7E5D8"/>
                </a:solidFill>
                <a:latin typeface="Syne" pitchFamily="34" charset="0"/>
                <a:ea typeface="Syne" pitchFamily="34" charset="-122"/>
                <a:cs typeface="Syne" pitchFamily="34" charset="-120"/>
              </a:rPr>
              <a:t> Simple and interpretable</a:t>
            </a:r>
            <a:endParaRPr lang="en-US" sz="1300" dirty="0"/>
          </a:p>
        </p:txBody>
      </p:sp>
      <p:sp>
        <p:nvSpPr>
          <p:cNvPr id="7" name="Text 5"/>
          <p:cNvSpPr/>
          <p:nvPr/>
        </p:nvSpPr>
        <p:spPr>
          <a:xfrm>
            <a:off x="986671" y="2813328"/>
            <a:ext cx="6071830" cy="476250"/>
          </a:xfrm>
          <a:prstGeom prst="rect">
            <a:avLst/>
          </a:prstGeom>
          <a:noFill/>
          <a:ln/>
        </p:spPr>
        <p:txBody>
          <a:bodyPr wrap="squar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Limitation:</a:t>
            </a:r>
            <a:r>
              <a:rPr lang="en-US" sz="1300" dirty="0">
                <a:solidFill>
                  <a:srgbClr val="D7E5D8"/>
                </a:solidFill>
                <a:latin typeface="Syne" pitchFamily="34" charset="0"/>
                <a:ea typeface="Syne" pitchFamily="34" charset="-122"/>
                <a:cs typeface="Syne" pitchFamily="34" charset="-120"/>
              </a:rPr>
              <a:t> Misleading; a model saying "yes" to everything achieves 50% accuracy but 100% hallucination rate</a:t>
            </a:r>
            <a:endParaRPr lang="en-US" sz="1300" dirty="0"/>
          </a:p>
        </p:txBody>
      </p:sp>
      <p:sp>
        <p:nvSpPr>
          <p:cNvPr id="8" name="Text 6"/>
          <p:cNvSpPr/>
          <p:nvPr/>
        </p:nvSpPr>
        <p:spPr>
          <a:xfrm>
            <a:off x="986671" y="3366016"/>
            <a:ext cx="6071830"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Use in project:</a:t>
            </a:r>
            <a:r>
              <a:rPr lang="en-US" sz="1300" dirty="0">
                <a:solidFill>
                  <a:srgbClr val="D7E5D8"/>
                </a:solidFill>
                <a:latin typeface="Syne" pitchFamily="34" charset="0"/>
                <a:ea typeface="Syne" pitchFamily="34" charset="-122"/>
                <a:cs typeface="Syne" pitchFamily="34" charset="-120"/>
              </a:rPr>
              <a:t> Baseline reporting only</a:t>
            </a:r>
            <a:endParaRPr lang="en-US" sz="1300" dirty="0"/>
          </a:p>
        </p:txBody>
      </p:sp>
      <p:sp>
        <p:nvSpPr>
          <p:cNvPr id="9" name="Shape 7"/>
          <p:cNvSpPr/>
          <p:nvPr/>
        </p:nvSpPr>
        <p:spPr>
          <a:xfrm>
            <a:off x="7378898" y="1649135"/>
            <a:ext cx="6457712" cy="2462451"/>
          </a:xfrm>
          <a:prstGeom prst="roundRect">
            <a:avLst>
              <a:gd name="adj" fmla="val 2902"/>
            </a:avLst>
          </a:prstGeom>
          <a:solidFill>
            <a:srgbClr val="152025">
              <a:alpha val="95000"/>
            </a:srgbClr>
          </a:solidFill>
          <a:ln w="22860">
            <a:solidFill>
              <a:srgbClr val="6D9121"/>
            </a:solidFill>
            <a:prstDash val="solid"/>
          </a:ln>
        </p:spPr>
        <p:txBody>
          <a:bodyPr/>
          <a:lstStyle/>
          <a:p>
            <a:endParaRPr lang="en-PK"/>
          </a:p>
        </p:txBody>
      </p:sp>
      <p:sp>
        <p:nvSpPr>
          <p:cNvPr id="10" name="Text 8"/>
          <p:cNvSpPr/>
          <p:nvPr/>
        </p:nvSpPr>
        <p:spPr>
          <a:xfrm>
            <a:off x="7571780" y="1842016"/>
            <a:ext cx="3418284" cy="265747"/>
          </a:xfrm>
          <a:prstGeom prst="rect">
            <a:avLst/>
          </a:prstGeom>
          <a:noFill/>
          <a:ln/>
        </p:spPr>
        <p:txBody>
          <a:bodyPr wrap="none" lIns="0" tIns="0" rIns="0" bIns="0" rtlCol="0" anchor="t"/>
          <a:lstStyle/>
          <a:p>
            <a:pPr marL="0" indent="0" algn="l">
              <a:lnSpc>
                <a:spcPts val="2050"/>
              </a:lnSpc>
              <a:buNone/>
            </a:pPr>
            <a:r>
              <a:rPr lang="en-US" sz="1650" b="1" dirty="0">
                <a:solidFill>
                  <a:srgbClr val="81B61C"/>
                </a:solidFill>
                <a:latin typeface="Syne Extra Bold" pitchFamily="34" charset="0"/>
                <a:ea typeface="Syne Extra Bold" pitchFamily="34" charset="-122"/>
                <a:cs typeface="Syne Extra Bold" pitchFamily="34" charset="-120"/>
              </a:rPr>
              <a:t>Precision and Recall</a:t>
            </a:r>
            <a:endParaRPr lang="en-US" sz="1650" dirty="0"/>
          </a:p>
        </p:txBody>
      </p:sp>
      <p:sp>
        <p:nvSpPr>
          <p:cNvPr id="11" name="Text 9"/>
          <p:cNvSpPr/>
          <p:nvPr/>
        </p:nvSpPr>
        <p:spPr>
          <a:xfrm>
            <a:off x="7571780" y="2184202"/>
            <a:ext cx="6071949" cy="476250"/>
          </a:xfrm>
          <a:prstGeom prst="rect">
            <a:avLst/>
          </a:prstGeom>
          <a:noFill/>
          <a:ln/>
        </p:spPr>
        <p:txBody>
          <a:bodyPr wrap="squar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Precision:</a:t>
            </a:r>
            <a:r>
              <a:rPr lang="en-US" sz="1300" dirty="0">
                <a:solidFill>
                  <a:srgbClr val="D7E5D8"/>
                </a:solidFill>
                <a:latin typeface="Syne" pitchFamily="34" charset="0"/>
                <a:ea typeface="Syne" pitchFamily="34" charset="-122"/>
                <a:cs typeface="Syne" pitchFamily="34" charset="-120"/>
              </a:rPr>
              <a:t> Of all "yes" answers, how many were correct → measures false positive rate</a:t>
            </a:r>
            <a:endParaRPr lang="en-US" sz="1300" dirty="0"/>
          </a:p>
        </p:txBody>
      </p:sp>
      <p:sp>
        <p:nvSpPr>
          <p:cNvPr id="12" name="Text 10"/>
          <p:cNvSpPr/>
          <p:nvPr/>
        </p:nvSpPr>
        <p:spPr>
          <a:xfrm>
            <a:off x="7571780" y="2736890"/>
            <a:ext cx="6071949"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Recall:</a:t>
            </a:r>
            <a:r>
              <a:rPr lang="en-US" sz="1300" dirty="0">
                <a:solidFill>
                  <a:srgbClr val="D7E5D8"/>
                </a:solidFill>
                <a:latin typeface="Syne" pitchFamily="34" charset="0"/>
                <a:ea typeface="Syne" pitchFamily="34" charset="-122"/>
                <a:cs typeface="Syne" pitchFamily="34" charset="-120"/>
              </a:rPr>
              <a:t> Of all actual "yes" cases, how many were caught → measures coverage</a:t>
            </a:r>
            <a:endParaRPr lang="en-US" sz="1300" dirty="0"/>
          </a:p>
        </p:txBody>
      </p:sp>
      <p:sp>
        <p:nvSpPr>
          <p:cNvPr id="13" name="Text 11"/>
          <p:cNvSpPr/>
          <p:nvPr/>
        </p:nvSpPr>
        <p:spPr>
          <a:xfrm>
            <a:off x="7571780" y="3051453"/>
            <a:ext cx="6071949"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Advantage:</a:t>
            </a:r>
            <a:r>
              <a:rPr lang="en-US" sz="1300" dirty="0">
                <a:solidFill>
                  <a:srgbClr val="D7E5D8"/>
                </a:solidFill>
                <a:latin typeface="Syne" pitchFamily="34" charset="0"/>
                <a:ea typeface="Syne" pitchFamily="34" charset="-122"/>
                <a:cs typeface="Syne" pitchFamily="34" charset="-120"/>
              </a:rPr>
              <a:t> Together they give the full picture BCE hides</a:t>
            </a:r>
            <a:endParaRPr lang="en-US" sz="1300" dirty="0"/>
          </a:p>
        </p:txBody>
      </p:sp>
      <p:sp>
        <p:nvSpPr>
          <p:cNvPr id="14" name="Text 12"/>
          <p:cNvSpPr/>
          <p:nvPr/>
        </p:nvSpPr>
        <p:spPr>
          <a:xfrm>
            <a:off x="7571780" y="3366016"/>
            <a:ext cx="6071949"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Limitation:</a:t>
            </a:r>
            <a:r>
              <a:rPr lang="en-US" sz="1300" dirty="0">
                <a:solidFill>
                  <a:srgbClr val="D7E5D8"/>
                </a:solidFill>
                <a:latin typeface="Syne" pitchFamily="34" charset="0"/>
                <a:ea typeface="Syne" pitchFamily="34" charset="-122"/>
                <a:cs typeface="Syne" pitchFamily="34" charset="-120"/>
              </a:rPr>
              <a:t> Neither alone is sufficient; maximising one collapses the other</a:t>
            </a:r>
            <a:endParaRPr lang="en-US" sz="1300" dirty="0"/>
          </a:p>
        </p:txBody>
      </p:sp>
      <p:sp>
        <p:nvSpPr>
          <p:cNvPr id="15" name="Text 13"/>
          <p:cNvSpPr/>
          <p:nvPr/>
        </p:nvSpPr>
        <p:spPr>
          <a:xfrm>
            <a:off x="7571780" y="3680579"/>
            <a:ext cx="6071949"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Use in project:</a:t>
            </a:r>
            <a:r>
              <a:rPr lang="en-US" sz="1300" dirty="0">
                <a:solidFill>
                  <a:srgbClr val="D7E5D8"/>
                </a:solidFill>
                <a:latin typeface="Syne" pitchFamily="34" charset="0"/>
                <a:ea typeface="Syne" pitchFamily="34" charset="-122"/>
                <a:cs typeface="Syne" pitchFamily="34" charset="-120"/>
              </a:rPr>
              <a:t> Reported alongside F1</a:t>
            </a:r>
            <a:endParaRPr lang="en-US" sz="1300" dirty="0"/>
          </a:p>
        </p:txBody>
      </p:sp>
      <p:sp>
        <p:nvSpPr>
          <p:cNvPr id="16" name="Shape 14"/>
          <p:cNvSpPr/>
          <p:nvPr/>
        </p:nvSpPr>
        <p:spPr>
          <a:xfrm>
            <a:off x="793790" y="4239101"/>
            <a:ext cx="6457593" cy="3128010"/>
          </a:xfrm>
          <a:prstGeom prst="roundRect">
            <a:avLst>
              <a:gd name="adj" fmla="val 2284"/>
            </a:avLst>
          </a:prstGeom>
          <a:solidFill>
            <a:srgbClr val="152025">
              <a:alpha val="95000"/>
            </a:srgbClr>
          </a:solidFill>
          <a:ln w="22860">
            <a:solidFill>
              <a:srgbClr val="6D9121"/>
            </a:solidFill>
            <a:prstDash val="solid"/>
          </a:ln>
        </p:spPr>
        <p:txBody>
          <a:bodyPr/>
          <a:lstStyle/>
          <a:p>
            <a:endParaRPr lang="en-PK"/>
          </a:p>
        </p:txBody>
      </p:sp>
      <p:sp>
        <p:nvSpPr>
          <p:cNvPr id="17" name="Text 15"/>
          <p:cNvSpPr/>
          <p:nvPr/>
        </p:nvSpPr>
        <p:spPr>
          <a:xfrm>
            <a:off x="986671" y="4431983"/>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547808"/>
                </a:solidFill>
                <a:latin typeface="Syne Extra Bold" pitchFamily="34" charset="0"/>
                <a:ea typeface="Syne Extra Bold" pitchFamily="34" charset="-122"/>
                <a:cs typeface="Syne Extra Bold" pitchFamily="34" charset="-120"/>
              </a:rPr>
              <a:t>F1-Score</a:t>
            </a:r>
            <a:endParaRPr lang="en-US" sz="1650" dirty="0"/>
          </a:p>
        </p:txBody>
      </p:sp>
      <p:sp>
        <p:nvSpPr>
          <p:cNvPr id="18" name="Text 16"/>
          <p:cNvSpPr/>
          <p:nvPr/>
        </p:nvSpPr>
        <p:spPr>
          <a:xfrm>
            <a:off x="986671" y="4774168"/>
            <a:ext cx="6071830"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Formula:</a:t>
            </a:r>
            <a:r>
              <a:rPr lang="en-US" sz="1300" dirty="0">
                <a:solidFill>
                  <a:srgbClr val="D7E5D8"/>
                </a:solidFill>
                <a:latin typeface="Syne" pitchFamily="34" charset="0"/>
                <a:ea typeface="Syne" pitchFamily="34" charset="-122"/>
                <a:cs typeface="Syne" pitchFamily="34" charset="-120"/>
              </a:rPr>
              <a:t> F1 = 2 × (Precision × Recall) / (Precision + Recall)</a:t>
            </a:r>
            <a:endParaRPr lang="en-US" sz="1300" dirty="0"/>
          </a:p>
        </p:txBody>
      </p:sp>
      <p:sp>
        <p:nvSpPr>
          <p:cNvPr id="19" name="Text 17"/>
          <p:cNvSpPr/>
          <p:nvPr/>
        </p:nvSpPr>
        <p:spPr>
          <a:xfrm>
            <a:off x="986671" y="5088731"/>
            <a:ext cx="6071830" cy="476250"/>
          </a:xfrm>
          <a:prstGeom prst="rect">
            <a:avLst/>
          </a:prstGeom>
          <a:noFill/>
          <a:ln/>
        </p:spPr>
        <p:txBody>
          <a:bodyPr wrap="squar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Advantage:</a:t>
            </a:r>
            <a:r>
              <a:rPr lang="en-US" sz="1300" dirty="0">
                <a:solidFill>
                  <a:srgbClr val="D7E5D8"/>
                </a:solidFill>
                <a:latin typeface="Syne" pitchFamily="34" charset="0"/>
                <a:ea typeface="Syne" pitchFamily="34" charset="-122"/>
                <a:cs typeface="Syne" pitchFamily="34" charset="-120"/>
              </a:rPr>
              <a:t> Penalises imbalance between Precision and Recall — only improves if both improve</a:t>
            </a:r>
            <a:endParaRPr lang="en-US" sz="1300" dirty="0"/>
          </a:p>
        </p:txBody>
      </p:sp>
      <p:sp>
        <p:nvSpPr>
          <p:cNvPr id="20" name="Text 18"/>
          <p:cNvSpPr/>
          <p:nvPr/>
        </p:nvSpPr>
        <p:spPr>
          <a:xfrm>
            <a:off x="986671" y="5641419"/>
            <a:ext cx="6071830"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Limitation:</a:t>
            </a:r>
            <a:r>
              <a:rPr lang="en-US" sz="1300" dirty="0">
                <a:solidFill>
                  <a:srgbClr val="D7E5D8"/>
                </a:solidFill>
                <a:latin typeface="Syne" pitchFamily="34" charset="0"/>
                <a:ea typeface="Syne" pitchFamily="34" charset="-122"/>
                <a:cs typeface="Syne" pitchFamily="34" charset="-120"/>
              </a:rPr>
              <a:t> Fixed threshold; treats false positives and false negatives equally</a:t>
            </a:r>
            <a:endParaRPr lang="en-US" sz="1300" dirty="0"/>
          </a:p>
        </p:txBody>
      </p:sp>
      <p:sp>
        <p:nvSpPr>
          <p:cNvPr id="21" name="Text 19"/>
          <p:cNvSpPr/>
          <p:nvPr/>
        </p:nvSpPr>
        <p:spPr>
          <a:xfrm>
            <a:off x="986671" y="5955983"/>
            <a:ext cx="6071830"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Use in project:</a:t>
            </a:r>
            <a:r>
              <a:rPr lang="en-US" sz="1300" dirty="0">
                <a:solidFill>
                  <a:srgbClr val="D7E5D8"/>
                </a:solidFill>
                <a:latin typeface="Syne" pitchFamily="34" charset="0"/>
                <a:ea typeface="Syne" pitchFamily="34" charset="-122"/>
                <a:cs typeface="Syne" pitchFamily="34" charset="-120"/>
              </a:rPr>
              <a:t> Primary metric across all model configurations</a:t>
            </a:r>
            <a:endParaRPr lang="en-US" sz="1300" dirty="0"/>
          </a:p>
        </p:txBody>
      </p:sp>
      <p:sp>
        <p:nvSpPr>
          <p:cNvPr id="22" name="Shape 20"/>
          <p:cNvSpPr/>
          <p:nvPr/>
        </p:nvSpPr>
        <p:spPr>
          <a:xfrm>
            <a:off x="7378898" y="4239101"/>
            <a:ext cx="6457712" cy="3128010"/>
          </a:xfrm>
          <a:prstGeom prst="roundRect">
            <a:avLst>
              <a:gd name="adj" fmla="val 2284"/>
            </a:avLst>
          </a:prstGeom>
          <a:solidFill>
            <a:srgbClr val="152025">
              <a:alpha val="95000"/>
            </a:srgbClr>
          </a:solidFill>
          <a:ln w="22860">
            <a:solidFill>
              <a:srgbClr val="6D9121"/>
            </a:solidFill>
            <a:prstDash val="solid"/>
          </a:ln>
        </p:spPr>
        <p:txBody>
          <a:bodyPr/>
          <a:lstStyle/>
          <a:p>
            <a:endParaRPr lang="en-PK"/>
          </a:p>
        </p:txBody>
      </p:sp>
      <p:sp>
        <p:nvSpPr>
          <p:cNvPr id="23" name="Text 21"/>
          <p:cNvSpPr/>
          <p:nvPr/>
        </p:nvSpPr>
        <p:spPr>
          <a:xfrm>
            <a:off x="7571780" y="4431983"/>
            <a:ext cx="6071949" cy="531495"/>
          </a:xfrm>
          <a:prstGeom prst="rect">
            <a:avLst/>
          </a:prstGeom>
          <a:noFill/>
          <a:ln/>
        </p:spPr>
        <p:txBody>
          <a:bodyPr wrap="square" lIns="0" tIns="0" rIns="0" bIns="0" rtlCol="0" anchor="t"/>
          <a:lstStyle/>
          <a:p>
            <a:pPr marL="0" indent="0" algn="l">
              <a:lnSpc>
                <a:spcPts val="2050"/>
              </a:lnSpc>
              <a:buNone/>
            </a:pPr>
            <a:r>
              <a:rPr lang="en-US" sz="1650" b="1" dirty="0">
                <a:solidFill>
                  <a:srgbClr val="A9F00F"/>
                </a:solidFill>
                <a:latin typeface="Syne Extra Bold" pitchFamily="34" charset="0"/>
                <a:ea typeface="Syne Extra Bold" pitchFamily="34" charset="-122"/>
                <a:cs typeface="Syne Extra Bold" pitchFamily="34" charset="-120"/>
              </a:rPr>
              <a:t>Average Precision (AP) and AUC-ROC</a:t>
            </a:r>
            <a:endParaRPr lang="en-US" sz="1650" dirty="0"/>
          </a:p>
        </p:txBody>
      </p:sp>
      <p:sp>
        <p:nvSpPr>
          <p:cNvPr id="24" name="Text 22"/>
          <p:cNvSpPr/>
          <p:nvPr/>
        </p:nvSpPr>
        <p:spPr>
          <a:xfrm>
            <a:off x="7571780" y="5039916"/>
            <a:ext cx="6071949" cy="714375"/>
          </a:xfrm>
          <a:prstGeom prst="rect">
            <a:avLst/>
          </a:prstGeom>
          <a:noFill/>
          <a:ln/>
        </p:spPr>
        <p:txBody>
          <a:bodyPr wrap="squar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AP:</a:t>
            </a:r>
            <a:r>
              <a:rPr lang="en-US" sz="1300" dirty="0">
                <a:solidFill>
                  <a:srgbClr val="D7E5D8"/>
                </a:solidFill>
                <a:latin typeface="Syne" pitchFamily="34" charset="0"/>
                <a:ea typeface="Syne" pitchFamily="34" charset="-122"/>
                <a:cs typeface="Syne" pitchFamily="34" charset="-120"/>
              </a:rPr>
              <a:t> Summarises the full Precision-Recall curve — threshold-independent. POPE was designed by CV researchers borrowing from detection evaluation, making AP a natural fit.</a:t>
            </a:r>
            <a:endParaRPr lang="en-US" sz="1300" dirty="0"/>
          </a:p>
        </p:txBody>
      </p:sp>
      <p:sp>
        <p:nvSpPr>
          <p:cNvPr id="25" name="Text 23"/>
          <p:cNvSpPr/>
          <p:nvPr/>
        </p:nvSpPr>
        <p:spPr>
          <a:xfrm>
            <a:off x="7571780" y="5830729"/>
            <a:ext cx="6071949" cy="714375"/>
          </a:xfrm>
          <a:prstGeom prst="rect">
            <a:avLst/>
          </a:prstGeom>
          <a:noFill/>
          <a:ln/>
        </p:spPr>
        <p:txBody>
          <a:bodyPr wrap="squar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AUC-ROC:</a:t>
            </a:r>
            <a:r>
              <a:rPr lang="en-US" sz="1300" dirty="0">
                <a:solidFill>
                  <a:srgbClr val="D7E5D8"/>
                </a:solidFill>
                <a:latin typeface="Syne" pitchFamily="34" charset="0"/>
                <a:ea typeface="Syne" pitchFamily="34" charset="-122"/>
                <a:cs typeface="Syne" pitchFamily="34" charset="-120"/>
              </a:rPr>
              <a:t> Plots True Positive Rate vs False Positive Rate across all thresholds; useful for comparing baseline vs LoRA vs CVAA without committing to a fixed cutoff.</a:t>
            </a:r>
            <a:endParaRPr lang="en-US" sz="1300" dirty="0"/>
          </a:p>
        </p:txBody>
      </p:sp>
      <p:sp>
        <p:nvSpPr>
          <p:cNvPr id="26" name="Text 24"/>
          <p:cNvSpPr/>
          <p:nvPr/>
        </p:nvSpPr>
        <p:spPr>
          <a:xfrm>
            <a:off x="7571780" y="6621542"/>
            <a:ext cx="6071949"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Limitation of both:</a:t>
            </a:r>
            <a:r>
              <a:rPr lang="en-US" sz="1300" dirty="0">
                <a:solidFill>
                  <a:srgbClr val="D7E5D8"/>
                </a:solidFill>
                <a:latin typeface="Syne" pitchFamily="34" charset="0"/>
                <a:ea typeface="Syne" pitchFamily="34" charset="-122"/>
                <a:cs typeface="Syne" pitchFamily="34" charset="-120"/>
              </a:rPr>
              <a:t> Less intuitive for non-specialists</a:t>
            </a:r>
            <a:endParaRPr lang="en-US" sz="1300" dirty="0"/>
          </a:p>
        </p:txBody>
      </p:sp>
      <p:sp>
        <p:nvSpPr>
          <p:cNvPr id="27" name="Text 25"/>
          <p:cNvSpPr/>
          <p:nvPr/>
        </p:nvSpPr>
        <p:spPr>
          <a:xfrm>
            <a:off x="7571780" y="6936105"/>
            <a:ext cx="6071949" cy="238125"/>
          </a:xfrm>
          <a:prstGeom prst="rect">
            <a:avLst/>
          </a:prstGeom>
          <a:noFill/>
          <a:ln/>
        </p:spPr>
        <p:txBody>
          <a:bodyPr wrap="none" lIns="0" tIns="0" rIns="0" bIns="0" rtlCol="0" anchor="t"/>
          <a:lstStyle/>
          <a:p>
            <a:pPr marL="0" indent="0" algn="l">
              <a:lnSpc>
                <a:spcPts val="1850"/>
              </a:lnSpc>
              <a:buNone/>
            </a:pPr>
            <a:r>
              <a:rPr lang="en-US" sz="1300" b="1" dirty="0">
                <a:solidFill>
                  <a:srgbClr val="D7E5D8"/>
                </a:solidFill>
                <a:latin typeface="Syne" pitchFamily="34" charset="0"/>
                <a:ea typeface="Syne" pitchFamily="34" charset="-122"/>
                <a:cs typeface="Syne" pitchFamily="34" charset="-120"/>
              </a:rPr>
              <a:t>Use in project:</a:t>
            </a:r>
            <a:r>
              <a:rPr lang="en-US" sz="1300" dirty="0">
                <a:solidFill>
                  <a:srgbClr val="D7E5D8"/>
                </a:solidFill>
                <a:latin typeface="Syne" pitchFamily="34" charset="0"/>
                <a:ea typeface="Syne" pitchFamily="34" charset="-122"/>
                <a:cs typeface="Syne" pitchFamily="34" charset="-120"/>
              </a:rPr>
              <a:t> Contextual benchmarking and cross-model comparison</a:t>
            </a:r>
            <a:endParaRPr lang="en-US" sz="1300" dirty="0"/>
          </a:p>
        </p:txBody>
      </p:sp>
      <p:sp>
        <p:nvSpPr>
          <p:cNvPr id="28" name="Rectangle 27">
            <a:extLst>
              <a:ext uri="{FF2B5EF4-FFF2-40B4-BE49-F238E27FC236}">
                <a16:creationId xmlns:a16="http://schemas.microsoft.com/office/drawing/2014/main" id="{31E927CD-410E-6DF5-2E4A-8AC8C5EEA577}"/>
              </a:ext>
            </a:extLst>
          </p:cNvPr>
          <p:cNvSpPr/>
          <p:nvPr/>
        </p:nvSpPr>
        <p:spPr>
          <a:xfrm>
            <a:off x="11978521" y="7559992"/>
            <a:ext cx="2573820" cy="618433"/>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86897"/>
            <a:ext cx="13042821" cy="1275874"/>
          </a:xfrm>
          <a:prstGeom prst="rect">
            <a:avLst/>
          </a:prstGeom>
          <a:noFill/>
          <a:ln/>
        </p:spPr>
        <p:txBody>
          <a:bodyPr wrap="square" lIns="0" tIns="0" rIns="0" bIns="0" rtlCol="0" anchor="t"/>
          <a:lstStyle/>
          <a:p>
            <a:pPr marL="0" indent="0" algn="l">
              <a:lnSpc>
                <a:spcPts val="5000"/>
              </a:lnSpc>
              <a:buNone/>
            </a:pPr>
            <a:r>
              <a:rPr lang="en-US" sz="4000" b="1" dirty="0">
                <a:solidFill>
                  <a:srgbClr val="F0F4F1"/>
                </a:solidFill>
                <a:latin typeface="Syne Extra Bold" pitchFamily="34" charset="0"/>
                <a:ea typeface="Syne Extra Bold" pitchFamily="34" charset="-122"/>
                <a:cs typeface="Syne Extra Bold" pitchFamily="34" charset="-120"/>
              </a:rPr>
              <a:t>Metrics - NLP and Generation Side</a:t>
            </a:r>
            <a:endParaRPr lang="en-US" sz="4000" dirty="0"/>
          </a:p>
        </p:txBody>
      </p:sp>
      <p:sp>
        <p:nvSpPr>
          <p:cNvPr id="3" name="Shape 1"/>
          <p:cNvSpPr/>
          <p:nvPr/>
        </p:nvSpPr>
        <p:spPr>
          <a:xfrm>
            <a:off x="793790" y="2530197"/>
            <a:ext cx="13042821" cy="3985260"/>
          </a:xfrm>
          <a:prstGeom prst="roundRect">
            <a:avLst>
              <a:gd name="adj" fmla="val 2151"/>
            </a:avLst>
          </a:prstGeom>
          <a:noFill/>
          <a:ln w="7620">
            <a:solidFill>
              <a:srgbClr val="FFFFFF">
                <a:alpha val="24000"/>
              </a:srgbClr>
            </a:solidFill>
            <a:prstDash val="solid"/>
          </a:ln>
        </p:spPr>
        <p:txBody>
          <a:bodyPr/>
          <a:lstStyle/>
          <a:p>
            <a:endParaRPr lang="en-PK"/>
          </a:p>
        </p:txBody>
      </p:sp>
      <p:sp>
        <p:nvSpPr>
          <p:cNvPr id="4" name="Shape 2"/>
          <p:cNvSpPr/>
          <p:nvPr/>
        </p:nvSpPr>
        <p:spPr>
          <a:xfrm>
            <a:off x="801410" y="2537817"/>
            <a:ext cx="13027581" cy="545783"/>
          </a:xfrm>
          <a:prstGeom prst="rect">
            <a:avLst/>
          </a:prstGeom>
          <a:solidFill>
            <a:srgbClr val="FFFFFF">
              <a:alpha val="4000"/>
            </a:srgbClr>
          </a:solidFill>
          <a:ln/>
        </p:spPr>
        <p:txBody>
          <a:bodyPr/>
          <a:lstStyle/>
          <a:p>
            <a:endParaRPr lang="en-PK"/>
          </a:p>
        </p:txBody>
      </p:sp>
      <p:sp>
        <p:nvSpPr>
          <p:cNvPr id="5" name="Text 3"/>
          <p:cNvSpPr/>
          <p:nvPr/>
        </p:nvSpPr>
        <p:spPr>
          <a:xfrm>
            <a:off x="1005840" y="2655570"/>
            <a:ext cx="219348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Metric</a:t>
            </a:r>
            <a:endParaRPr lang="en-US" sz="1600" dirty="0"/>
          </a:p>
        </p:txBody>
      </p:sp>
      <p:sp>
        <p:nvSpPr>
          <p:cNvPr id="6" name="Text 4"/>
          <p:cNvSpPr/>
          <p:nvPr/>
        </p:nvSpPr>
        <p:spPr>
          <a:xfrm>
            <a:off x="3615095" y="2655570"/>
            <a:ext cx="218967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What It Measures</a:t>
            </a:r>
            <a:endParaRPr lang="en-US" sz="1600" dirty="0"/>
          </a:p>
        </p:txBody>
      </p:sp>
      <p:sp>
        <p:nvSpPr>
          <p:cNvPr id="7" name="Text 5"/>
          <p:cNvSpPr/>
          <p:nvPr/>
        </p:nvSpPr>
        <p:spPr>
          <a:xfrm>
            <a:off x="6220539" y="2655570"/>
            <a:ext cx="218967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Advantage</a:t>
            </a:r>
            <a:endParaRPr lang="en-US" sz="1600" dirty="0"/>
          </a:p>
        </p:txBody>
      </p:sp>
      <p:sp>
        <p:nvSpPr>
          <p:cNvPr id="8" name="Text 6"/>
          <p:cNvSpPr/>
          <p:nvPr/>
        </p:nvSpPr>
        <p:spPr>
          <a:xfrm>
            <a:off x="8825984" y="2655570"/>
            <a:ext cx="218967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Limitation</a:t>
            </a:r>
            <a:endParaRPr lang="en-US" sz="1600" dirty="0"/>
          </a:p>
        </p:txBody>
      </p:sp>
      <p:sp>
        <p:nvSpPr>
          <p:cNvPr id="9" name="Text 7"/>
          <p:cNvSpPr/>
          <p:nvPr/>
        </p:nvSpPr>
        <p:spPr>
          <a:xfrm>
            <a:off x="11431429" y="2655570"/>
            <a:ext cx="2193488" cy="310277"/>
          </a:xfrm>
          <a:prstGeom prst="rect">
            <a:avLst/>
          </a:prstGeom>
          <a:noFill/>
          <a:ln/>
        </p:spPr>
        <p:txBody>
          <a:bodyPr wrap="none" lIns="0" tIns="0" rIns="0" bIns="0" rtlCol="0" anchor="t"/>
          <a:lstStyle/>
          <a:p>
            <a:pPr marL="0" indent="0" algn="l">
              <a:lnSpc>
                <a:spcPts val="2400"/>
              </a:lnSpc>
              <a:buNone/>
            </a:pPr>
            <a:r>
              <a:rPr lang="en-US" sz="1600" b="1" dirty="0">
                <a:solidFill>
                  <a:srgbClr val="D7E5D8"/>
                </a:solidFill>
                <a:latin typeface="Syne" pitchFamily="34" charset="0"/>
                <a:ea typeface="Syne" pitchFamily="34" charset="-122"/>
                <a:cs typeface="Syne" pitchFamily="34" charset="-120"/>
              </a:rPr>
              <a:t>Use in Our Project</a:t>
            </a:r>
            <a:endParaRPr lang="en-US" sz="1600" dirty="0"/>
          </a:p>
        </p:txBody>
      </p:sp>
      <p:sp>
        <p:nvSpPr>
          <p:cNvPr id="10" name="Shape 8"/>
          <p:cNvSpPr/>
          <p:nvPr/>
        </p:nvSpPr>
        <p:spPr>
          <a:xfrm>
            <a:off x="801410" y="3083600"/>
            <a:ext cx="13027581" cy="856059"/>
          </a:xfrm>
          <a:prstGeom prst="rect">
            <a:avLst/>
          </a:prstGeom>
          <a:solidFill>
            <a:srgbClr val="000000">
              <a:alpha val="4000"/>
            </a:srgbClr>
          </a:solidFill>
          <a:ln/>
        </p:spPr>
        <p:txBody>
          <a:bodyPr/>
          <a:lstStyle/>
          <a:p>
            <a:endParaRPr lang="en-PK"/>
          </a:p>
        </p:txBody>
      </p:sp>
      <p:sp>
        <p:nvSpPr>
          <p:cNvPr id="11" name="Text 9"/>
          <p:cNvSpPr/>
          <p:nvPr/>
        </p:nvSpPr>
        <p:spPr>
          <a:xfrm>
            <a:off x="1005840" y="3201353"/>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Perplexity</a:t>
            </a:r>
            <a:endParaRPr lang="en-US" sz="1600" dirty="0"/>
          </a:p>
        </p:txBody>
      </p:sp>
      <p:sp>
        <p:nvSpPr>
          <p:cNvPr id="12" name="Text 10"/>
          <p:cNvSpPr/>
          <p:nvPr/>
        </p:nvSpPr>
        <p:spPr>
          <a:xfrm>
            <a:off x="3615095" y="3201353"/>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How confidently model predicts tokens</a:t>
            </a:r>
            <a:endParaRPr lang="en-US" sz="1600" dirty="0"/>
          </a:p>
        </p:txBody>
      </p:sp>
      <p:sp>
        <p:nvSpPr>
          <p:cNvPr id="13" name="Text 11"/>
          <p:cNvSpPr/>
          <p:nvPr/>
        </p:nvSpPr>
        <p:spPr>
          <a:xfrm>
            <a:off x="6220539" y="3201353"/>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Direct training signal</a:t>
            </a:r>
            <a:endParaRPr lang="en-US" sz="1600" dirty="0"/>
          </a:p>
        </p:txBody>
      </p:sp>
      <p:sp>
        <p:nvSpPr>
          <p:cNvPr id="14" name="Text 12"/>
          <p:cNvSpPr/>
          <p:nvPr/>
        </p:nvSpPr>
        <p:spPr>
          <a:xfrm>
            <a:off x="8825984" y="3201353"/>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Low perplexity ≠ less hallucination</a:t>
            </a:r>
            <a:endParaRPr lang="en-US" sz="1600" dirty="0"/>
          </a:p>
        </p:txBody>
      </p:sp>
      <p:sp>
        <p:nvSpPr>
          <p:cNvPr id="15" name="Text 13"/>
          <p:cNvSpPr/>
          <p:nvPr/>
        </p:nvSpPr>
        <p:spPr>
          <a:xfrm>
            <a:off x="11431429" y="3201353"/>
            <a:ext cx="219348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Monitor QLoRA convergence</a:t>
            </a:r>
            <a:endParaRPr lang="en-US" sz="1600" dirty="0"/>
          </a:p>
        </p:txBody>
      </p:sp>
      <p:sp>
        <p:nvSpPr>
          <p:cNvPr id="16" name="Shape 14"/>
          <p:cNvSpPr/>
          <p:nvPr/>
        </p:nvSpPr>
        <p:spPr>
          <a:xfrm>
            <a:off x="801410" y="3939659"/>
            <a:ext cx="13027581" cy="856059"/>
          </a:xfrm>
          <a:prstGeom prst="rect">
            <a:avLst/>
          </a:prstGeom>
          <a:solidFill>
            <a:srgbClr val="FFFFFF">
              <a:alpha val="4000"/>
            </a:srgbClr>
          </a:solidFill>
          <a:ln/>
        </p:spPr>
        <p:txBody>
          <a:bodyPr/>
          <a:lstStyle/>
          <a:p>
            <a:endParaRPr lang="en-PK"/>
          </a:p>
        </p:txBody>
      </p:sp>
      <p:sp>
        <p:nvSpPr>
          <p:cNvPr id="17" name="Text 15"/>
          <p:cNvSpPr/>
          <p:nvPr/>
        </p:nvSpPr>
        <p:spPr>
          <a:xfrm>
            <a:off x="1005840" y="4057412"/>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BLEU</a:t>
            </a:r>
            <a:endParaRPr lang="en-US" sz="1600" dirty="0"/>
          </a:p>
        </p:txBody>
      </p:sp>
      <p:sp>
        <p:nvSpPr>
          <p:cNvPr id="18" name="Text 16"/>
          <p:cNvSpPr/>
          <p:nvPr/>
        </p:nvSpPr>
        <p:spPr>
          <a:xfrm>
            <a:off x="3615095" y="4057412"/>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N-gram precision overlap with reference</a:t>
            </a:r>
            <a:endParaRPr lang="en-US" sz="1600" dirty="0"/>
          </a:p>
        </p:txBody>
      </p:sp>
      <p:sp>
        <p:nvSpPr>
          <p:cNvPr id="19" name="Text 17"/>
          <p:cNvSpPr/>
          <p:nvPr/>
        </p:nvSpPr>
        <p:spPr>
          <a:xfrm>
            <a:off x="6220539" y="4057412"/>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Widely used, easy to compute</a:t>
            </a:r>
            <a:endParaRPr lang="en-US" sz="1600" dirty="0"/>
          </a:p>
        </p:txBody>
      </p:sp>
      <p:sp>
        <p:nvSpPr>
          <p:cNvPr id="20" name="Text 18"/>
          <p:cNvSpPr/>
          <p:nvPr/>
        </p:nvSpPr>
        <p:spPr>
          <a:xfrm>
            <a:off x="8825984" y="4057412"/>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Doesn't capture semantic meaning</a:t>
            </a:r>
            <a:endParaRPr lang="en-US" sz="1600" dirty="0"/>
          </a:p>
        </p:txBody>
      </p:sp>
      <p:sp>
        <p:nvSpPr>
          <p:cNvPr id="21" name="Text 19"/>
          <p:cNvSpPr/>
          <p:nvPr/>
        </p:nvSpPr>
        <p:spPr>
          <a:xfrm>
            <a:off x="11431429" y="4057412"/>
            <a:ext cx="219348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Generation quality sanity check</a:t>
            </a:r>
            <a:endParaRPr lang="en-US" sz="1600" dirty="0"/>
          </a:p>
        </p:txBody>
      </p:sp>
      <p:sp>
        <p:nvSpPr>
          <p:cNvPr id="22" name="Shape 20"/>
          <p:cNvSpPr/>
          <p:nvPr/>
        </p:nvSpPr>
        <p:spPr>
          <a:xfrm>
            <a:off x="801410" y="4795718"/>
            <a:ext cx="13027581" cy="856059"/>
          </a:xfrm>
          <a:prstGeom prst="rect">
            <a:avLst/>
          </a:prstGeom>
          <a:solidFill>
            <a:srgbClr val="000000">
              <a:alpha val="4000"/>
            </a:srgbClr>
          </a:solidFill>
          <a:ln/>
        </p:spPr>
        <p:txBody>
          <a:bodyPr/>
          <a:lstStyle/>
          <a:p>
            <a:endParaRPr lang="en-PK"/>
          </a:p>
        </p:txBody>
      </p:sp>
      <p:sp>
        <p:nvSpPr>
          <p:cNvPr id="23" name="Text 21"/>
          <p:cNvSpPr/>
          <p:nvPr/>
        </p:nvSpPr>
        <p:spPr>
          <a:xfrm>
            <a:off x="1005840" y="4913471"/>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ROUGE</a:t>
            </a:r>
            <a:endParaRPr lang="en-US" sz="1600" dirty="0"/>
          </a:p>
        </p:txBody>
      </p:sp>
      <p:sp>
        <p:nvSpPr>
          <p:cNvPr id="24" name="Text 22"/>
          <p:cNvSpPr/>
          <p:nvPr/>
        </p:nvSpPr>
        <p:spPr>
          <a:xfrm>
            <a:off x="3615095" y="4913471"/>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N-gram recall overlap with reference</a:t>
            </a:r>
            <a:endParaRPr lang="en-US" sz="1600" dirty="0"/>
          </a:p>
        </p:txBody>
      </p:sp>
      <p:sp>
        <p:nvSpPr>
          <p:cNvPr id="25" name="Text 23"/>
          <p:cNvSpPr/>
          <p:nvPr/>
        </p:nvSpPr>
        <p:spPr>
          <a:xfrm>
            <a:off x="6220539" y="4913471"/>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Captures output coverage</a:t>
            </a:r>
            <a:endParaRPr lang="en-US" sz="1600" dirty="0"/>
          </a:p>
        </p:txBody>
      </p:sp>
      <p:sp>
        <p:nvSpPr>
          <p:cNvPr id="26" name="Text 24"/>
          <p:cNvSpPr/>
          <p:nvPr/>
        </p:nvSpPr>
        <p:spPr>
          <a:xfrm>
            <a:off x="8825984" y="4913471"/>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Same limitation as BLEU</a:t>
            </a:r>
            <a:endParaRPr lang="en-US" sz="1600" dirty="0"/>
          </a:p>
        </p:txBody>
      </p:sp>
      <p:sp>
        <p:nvSpPr>
          <p:cNvPr id="27" name="Text 25"/>
          <p:cNvSpPr/>
          <p:nvPr/>
        </p:nvSpPr>
        <p:spPr>
          <a:xfrm>
            <a:off x="11431429" y="4913471"/>
            <a:ext cx="219348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Generation quality sanity check</a:t>
            </a:r>
            <a:endParaRPr lang="en-US" sz="1600" dirty="0"/>
          </a:p>
        </p:txBody>
      </p:sp>
      <p:sp>
        <p:nvSpPr>
          <p:cNvPr id="28" name="Shape 26"/>
          <p:cNvSpPr/>
          <p:nvPr/>
        </p:nvSpPr>
        <p:spPr>
          <a:xfrm>
            <a:off x="801410" y="5651778"/>
            <a:ext cx="13027581" cy="856059"/>
          </a:xfrm>
          <a:prstGeom prst="rect">
            <a:avLst/>
          </a:prstGeom>
          <a:solidFill>
            <a:srgbClr val="FFFFFF">
              <a:alpha val="4000"/>
            </a:srgbClr>
          </a:solidFill>
          <a:ln/>
        </p:spPr>
        <p:txBody>
          <a:bodyPr/>
          <a:lstStyle/>
          <a:p>
            <a:endParaRPr lang="en-PK"/>
          </a:p>
        </p:txBody>
      </p:sp>
      <p:sp>
        <p:nvSpPr>
          <p:cNvPr id="29" name="Text 27"/>
          <p:cNvSpPr/>
          <p:nvPr/>
        </p:nvSpPr>
        <p:spPr>
          <a:xfrm>
            <a:off x="1005840" y="5769531"/>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Exact Match</a:t>
            </a:r>
            <a:endParaRPr lang="en-US" sz="1600" dirty="0"/>
          </a:p>
        </p:txBody>
      </p:sp>
      <p:sp>
        <p:nvSpPr>
          <p:cNvPr id="30" name="Text 28"/>
          <p:cNvSpPr/>
          <p:nvPr/>
        </p:nvSpPr>
        <p:spPr>
          <a:xfrm>
            <a:off x="3615095" y="5769531"/>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Strict binary correctness</a:t>
            </a:r>
            <a:endParaRPr lang="en-US" sz="1600" dirty="0"/>
          </a:p>
        </p:txBody>
      </p:sp>
      <p:sp>
        <p:nvSpPr>
          <p:cNvPr id="31" name="Text 29"/>
          <p:cNvSpPr/>
          <p:nvPr/>
        </p:nvSpPr>
        <p:spPr>
          <a:xfrm>
            <a:off x="6220539" y="5769531"/>
            <a:ext cx="218967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Unambiguous</a:t>
            </a:r>
            <a:endParaRPr lang="en-US" sz="1600" dirty="0"/>
          </a:p>
        </p:txBody>
      </p:sp>
      <p:sp>
        <p:nvSpPr>
          <p:cNvPr id="32" name="Text 30"/>
          <p:cNvSpPr/>
          <p:nvPr/>
        </p:nvSpPr>
        <p:spPr>
          <a:xfrm>
            <a:off x="8825984" y="5769531"/>
            <a:ext cx="2189678"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Too strict for open-ended Urdu answers</a:t>
            </a:r>
            <a:endParaRPr lang="en-US" sz="1600" dirty="0"/>
          </a:p>
        </p:txBody>
      </p:sp>
      <p:sp>
        <p:nvSpPr>
          <p:cNvPr id="33" name="Text 31"/>
          <p:cNvSpPr/>
          <p:nvPr/>
        </p:nvSpPr>
        <p:spPr>
          <a:xfrm>
            <a:off x="11431429" y="5769531"/>
            <a:ext cx="2193488" cy="310277"/>
          </a:xfrm>
          <a:prstGeom prst="rect">
            <a:avLst/>
          </a:prstGeom>
          <a:noFill/>
          <a:ln/>
        </p:spPr>
        <p:txBody>
          <a:bodyPr wrap="non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Limited use only</a:t>
            </a:r>
            <a:endParaRPr lang="en-US" sz="1600" dirty="0"/>
          </a:p>
        </p:txBody>
      </p:sp>
      <p:sp>
        <p:nvSpPr>
          <p:cNvPr id="34" name="Text 32"/>
          <p:cNvSpPr/>
          <p:nvPr/>
        </p:nvSpPr>
        <p:spPr>
          <a:xfrm>
            <a:off x="793790" y="6722150"/>
            <a:ext cx="13042821" cy="620554"/>
          </a:xfrm>
          <a:prstGeom prst="rect">
            <a:avLst/>
          </a:prstGeom>
          <a:noFill/>
          <a:ln/>
        </p:spPr>
        <p:txBody>
          <a:bodyPr wrap="square" lIns="0" tIns="0" rIns="0" bIns="0" rtlCol="0" anchor="t"/>
          <a:lstStyle/>
          <a:p>
            <a:pPr marL="0" indent="0" algn="l">
              <a:lnSpc>
                <a:spcPts val="2400"/>
              </a:lnSpc>
              <a:buNone/>
            </a:pPr>
            <a:r>
              <a:rPr lang="en-US" sz="1600" dirty="0">
                <a:solidFill>
                  <a:srgbClr val="D7E5D8"/>
                </a:solidFill>
                <a:latin typeface="Syne" pitchFamily="34" charset="0"/>
                <a:ea typeface="Syne" pitchFamily="34" charset="-122"/>
                <a:cs typeface="Syne" pitchFamily="34" charset="-120"/>
              </a:rPr>
              <a:t>These metrics validate that fine-tuning improves Urdu generation quality; but none directly measure hallucination. They are monitoring tools, not primary evaluation metrics.</a:t>
            </a:r>
            <a:endParaRPr lang="en-US" sz="1600" dirty="0"/>
          </a:p>
        </p:txBody>
      </p:sp>
      <p:sp>
        <p:nvSpPr>
          <p:cNvPr id="35" name="Rectangle 34">
            <a:extLst>
              <a:ext uri="{FF2B5EF4-FFF2-40B4-BE49-F238E27FC236}">
                <a16:creationId xmlns:a16="http://schemas.microsoft.com/office/drawing/2014/main" id="{966859EC-D9F6-D12D-4589-FFEC0A4C8D84}"/>
              </a:ext>
            </a:extLst>
          </p:cNvPr>
          <p:cNvSpPr/>
          <p:nvPr/>
        </p:nvSpPr>
        <p:spPr>
          <a:xfrm>
            <a:off x="11978521" y="7300436"/>
            <a:ext cx="2573820" cy="877990"/>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951309"/>
            <a:ext cx="13042821" cy="1204913"/>
          </a:xfrm>
          <a:prstGeom prst="rect">
            <a:avLst/>
          </a:prstGeom>
          <a:noFill/>
          <a:ln/>
        </p:spPr>
        <p:txBody>
          <a:bodyPr wrap="square" lIns="0" tIns="0" rIns="0" bIns="0" rtlCol="0" anchor="t"/>
          <a:lstStyle/>
          <a:p>
            <a:pPr marL="0" indent="0" algn="l">
              <a:lnSpc>
                <a:spcPts val="4700"/>
              </a:lnSpc>
              <a:buNone/>
            </a:pPr>
            <a:r>
              <a:rPr lang="en-US" sz="3750" b="1" dirty="0">
                <a:solidFill>
                  <a:srgbClr val="F0F4F1"/>
                </a:solidFill>
                <a:latin typeface="Syne Extra Bold" pitchFamily="34" charset="0"/>
                <a:ea typeface="Syne Extra Bold" pitchFamily="34" charset="-122"/>
                <a:cs typeface="Syne Extra Bold" pitchFamily="34" charset="-120"/>
              </a:rPr>
              <a:t>Beyond the Survey - Novel Metrics for Our Task</a:t>
            </a:r>
            <a:endParaRPr lang="en-US" sz="3750" dirty="0"/>
          </a:p>
        </p:txBody>
      </p:sp>
      <p:sp>
        <p:nvSpPr>
          <p:cNvPr id="3" name="Text 1"/>
          <p:cNvSpPr/>
          <p:nvPr/>
        </p:nvSpPr>
        <p:spPr>
          <a:xfrm>
            <a:off x="793790" y="2565797"/>
            <a:ext cx="5300424" cy="361474"/>
          </a:xfrm>
          <a:prstGeom prst="rect">
            <a:avLst/>
          </a:prstGeom>
          <a:noFill/>
          <a:ln/>
        </p:spPr>
        <p:txBody>
          <a:bodyPr wrap="none" lIns="0" tIns="0" rIns="0" bIns="0" rtlCol="0" anchor="t"/>
          <a:lstStyle/>
          <a:p>
            <a:pPr marL="0" indent="0" algn="l">
              <a:lnSpc>
                <a:spcPts val="2800"/>
              </a:lnSpc>
              <a:buNone/>
            </a:pPr>
            <a:r>
              <a:rPr lang="en-US" sz="2250" b="1" dirty="0">
                <a:solidFill>
                  <a:srgbClr val="A9F00F"/>
                </a:solidFill>
                <a:latin typeface="Syne Extra Bold" pitchFamily="34" charset="0"/>
                <a:ea typeface="Syne Extra Bold" pitchFamily="34" charset="-122"/>
                <a:cs typeface="Syne Extra Bold" pitchFamily="34" charset="-120"/>
              </a:rPr>
              <a:t>Hallucination Rate (HR)</a:t>
            </a:r>
            <a:endParaRPr lang="en-US" sz="2250" dirty="0"/>
          </a:p>
        </p:txBody>
      </p:sp>
      <p:sp>
        <p:nvSpPr>
          <p:cNvPr id="4" name="Text 2"/>
          <p:cNvSpPr/>
          <p:nvPr/>
        </p:nvSpPr>
        <p:spPr>
          <a:xfrm>
            <a:off x="793790" y="3091101"/>
            <a:ext cx="6286262" cy="285274"/>
          </a:xfrm>
          <a:prstGeom prst="rect">
            <a:avLst/>
          </a:prstGeom>
          <a:noFill/>
          <a:ln/>
        </p:spPr>
        <p:txBody>
          <a:bodyPr wrap="non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Formula:</a:t>
            </a:r>
            <a:endParaRPr lang="en-US" sz="1500" dirty="0"/>
          </a:p>
        </p:txBody>
      </p:sp>
      <p:sp>
        <p:nvSpPr>
          <p:cNvPr id="5" name="Text 3"/>
          <p:cNvSpPr/>
          <p:nvPr/>
        </p:nvSpPr>
        <p:spPr>
          <a:xfrm>
            <a:off x="793790" y="3583781"/>
            <a:ext cx="6286262" cy="660083"/>
          </a:xfrm>
          <a:prstGeom prst="rect">
            <a:avLst/>
          </a:prstGeom>
          <a:noFill/>
          <a:ln/>
        </p:spPr>
        <p:txBody>
          <a:bodyPr wrap="square" lIns="0" tIns="0" rIns="0" bIns="0" rtlCol="0" anchor="t"/>
          <a:lstStyle/>
          <a:p>
            <a:pPr marL="0" indent="0" algn="l">
              <a:lnSpc>
                <a:spcPts val="2500"/>
              </a:lnSpc>
              <a:buNone/>
            </a:pPr>
            <a:endParaRPr lang="en-US" sz="1700" dirty="0"/>
          </a:p>
        </p:txBody>
      </p:sp>
      <p:pic>
        <p:nvPicPr>
          <p:cNvPr id="6" name="Image 0" descr="preencoded.png"/>
          <p:cNvPicPr>
            <a:picLocks noChangeAspect="1"/>
          </p:cNvPicPr>
          <p:nvPr/>
        </p:nvPicPr>
        <p:blipFill>
          <a:blip r:embed="rId3"/>
          <a:stretch>
            <a:fillRect/>
          </a:stretch>
        </p:blipFill>
        <p:spPr>
          <a:xfrm>
            <a:off x="793790" y="3583781"/>
            <a:ext cx="6286262" cy="660083"/>
          </a:xfrm>
          <a:prstGeom prst="rect">
            <a:avLst/>
          </a:prstGeom>
        </p:spPr>
      </p:pic>
      <p:sp>
        <p:nvSpPr>
          <p:cNvPr id="7" name="Text 4"/>
          <p:cNvSpPr/>
          <p:nvPr/>
        </p:nvSpPr>
        <p:spPr>
          <a:xfrm>
            <a:off x="793790" y="4451271"/>
            <a:ext cx="6286262" cy="855821"/>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What it measures:</a:t>
            </a:r>
            <a:r>
              <a:rPr lang="en-US" sz="1500" dirty="0">
                <a:solidFill>
                  <a:srgbClr val="D7E5D8"/>
                </a:solidFill>
                <a:latin typeface="Syne" pitchFamily="34" charset="0"/>
                <a:ea typeface="Syne" pitchFamily="34" charset="-122"/>
                <a:cs typeface="Syne" pitchFamily="34" charset="-120"/>
              </a:rPr>
              <a:t> Specifically how often the model claims an absent object is present; more targeted than F1, which covers overall classification performance.</a:t>
            </a:r>
            <a:endParaRPr lang="en-US" sz="1500" dirty="0"/>
          </a:p>
        </p:txBody>
      </p:sp>
      <p:sp>
        <p:nvSpPr>
          <p:cNvPr id="8" name="Text 5"/>
          <p:cNvSpPr/>
          <p:nvPr/>
        </p:nvSpPr>
        <p:spPr>
          <a:xfrm>
            <a:off x="793790" y="5454491"/>
            <a:ext cx="6286262" cy="285274"/>
          </a:xfrm>
          <a:prstGeom prst="rect">
            <a:avLst/>
          </a:prstGeom>
          <a:noFill/>
          <a:ln/>
        </p:spPr>
        <p:txBody>
          <a:bodyPr wrap="non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Advantage:</a:t>
            </a:r>
            <a:r>
              <a:rPr lang="en-US" sz="1500" dirty="0">
                <a:solidFill>
                  <a:srgbClr val="D7E5D8"/>
                </a:solidFill>
                <a:latin typeface="Syne" pitchFamily="34" charset="0"/>
                <a:ea typeface="Syne" pitchFamily="34" charset="-122"/>
                <a:cs typeface="Syne" pitchFamily="34" charset="-120"/>
              </a:rPr>
              <a:t> Directly quantifies hallucination behaviour</a:t>
            </a:r>
            <a:endParaRPr lang="en-US" sz="1500" dirty="0"/>
          </a:p>
        </p:txBody>
      </p:sp>
      <p:sp>
        <p:nvSpPr>
          <p:cNvPr id="9" name="Text 6"/>
          <p:cNvSpPr/>
          <p:nvPr/>
        </p:nvSpPr>
        <p:spPr>
          <a:xfrm>
            <a:off x="793790" y="5887164"/>
            <a:ext cx="6286262" cy="285274"/>
          </a:xfrm>
          <a:prstGeom prst="rect">
            <a:avLst/>
          </a:prstGeom>
          <a:noFill/>
          <a:ln/>
        </p:spPr>
        <p:txBody>
          <a:bodyPr wrap="non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Limitation:</a:t>
            </a:r>
            <a:r>
              <a:rPr lang="en-US" sz="1500" dirty="0">
                <a:solidFill>
                  <a:srgbClr val="D7E5D8"/>
                </a:solidFill>
                <a:latin typeface="Syne" pitchFamily="34" charset="0"/>
                <a:ea typeface="Syne" pitchFamily="34" charset="-122"/>
                <a:cs typeface="Syne" pitchFamily="34" charset="-120"/>
              </a:rPr>
              <a:t> Does not distinguish between types of hallucination errors</a:t>
            </a:r>
            <a:endParaRPr lang="en-US" sz="1500" dirty="0"/>
          </a:p>
        </p:txBody>
      </p:sp>
      <p:sp>
        <p:nvSpPr>
          <p:cNvPr id="10" name="Text 7"/>
          <p:cNvSpPr/>
          <p:nvPr/>
        </p:nvSpPr>
        <p:spPr>
          <a:xfrm>
            <a:off x="793790" y="6319838"/>
            <a:ext cx="6286262" cy="570548"/>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Use in project:</a:t>
            </a:r>
            <a:r>
              <a:rPr lang="en-US" sz="1500" dirty="0">
                <a:solidFill>
                  <a:srgbClr val="D7E5D8"/>
                </a:solidFill>
                <a:latin typeface="Syne" pitchFamily="34" charset="0"/>
                <a:ea typeface="Syne" pitchFamily="34" charset="-122"/>
                <a:cs typeface="Syne" pitchFamily="34" charset="-120"/>
              </a:rPr>
              <a:t> Per-split hallucination analysis across Random, Popular, and Adversarial POPE splits</a:t>
            </a:r>
            <a:endParaRPr lang="en-US" sz="1500" dirty="0"/>
          </a:p>
        </p:txBody>
      </p:sp>
      <p:sp>
        <p:nvSpPr>
          <p:cNvPr id="11" name="Text 8"/>
          <p:cNvSpPr/>
          <p:nvPr/>
        </p:nvSpPr>
        <p:spPr>
          <a:xfrm>
            <a:off x="7557968" y="2565797"/>
            <a:ext cx="6095405" cy="361474"/>
          </a:xfrm>
          <a:prstGeom prst="rect">
            <a:avLst/>
          </a:prstGeom>
          <a:noFill/>
          <a:ln/>
        </p:spPr>
        <p:txBody>
          <a:bodyPr wrap="none" lIns="0" tIns="0" rIns="0" bIns="0" rtlCol="0" anchor="t"/>
          <a:lstStyle/>
          <a:p>
            <a:pPr marL="0" indent="0" algn="l">
              <a:lnSpc>
                <a:spcPts val="2800"/>
              </a:lnSpc>
              <a:buNone/>
            </a:pPr>
            <a:r>
              <a:rPr lang="en-US" sz="2250" b="1" dirty="0">
                <a:solidFill>
                  <a:srgbClr val="81B61C"/>
                </a:solidFill>
                <a:latin typeface="Syne Extra Bold" pitchFamily="34" charset="0"/>
                <a:ea typeface="Syne Extra Bold" pitchFamily="34" charset="-122"/>
                <a:cs typeface="Syne Extra Bold" pitchFamily="34" charset="-120"/>
              </a:rPr>
              <a:t>Language Gap Score (LGS)</a:t>
            </a:r>
            <a:endParaRPr lang="en-US" sz="2250" dirty="0"/>
          </a:p>
        </p:txBody>
      </p:sp>
      <p:sp>
        <p:nvSpPr>
          <p:cNvPr id="12" name="Text 9"/>
          <p:cNvSpPr/>
          <p:nvPr/>
        </p:nvSpPr>
        <p:spPr>
          <a:xfrm>
            <a:off x="7557968" y="3091101"/>
            <a:ext cx="6286262" cy="285274"/>
          </a:xfrm>
          <a:prstGeom prst="rect">
            <a:avLst/>
          </a:prstGeom>
          <a:noFill/>
          <a:ln/>
        </p:spPr>
        <p:txBody>
          <a:bodyPr wrap="non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Formula:</a:t>
            </a:r>
            <a:endParaRPr lang="en-US" sz="1500" dirty="0"/>
          </a:p>
        </p:txBody>
      </p:sp>
      <p:sp>
        <p:nvSpPr>
          <p:cNvPr id="13" name="Text 10"/>
          <p:cNvSpPr/>
          <p:nvPr/>
        </p:nvSpPr>
        <p:spPr>
          <a:xfrm>
            <a:off x="7557968" y="3583781"/>
            <a:ext cx="6286262" cy="330041"/>
          </a:xfrm>
          <a:prstGeom prst="rect">
            <a:avLst/>
          </a:prstGeom>
          <a:noFill/>
          <a:ln/>
        </p:spPr>
        <p:txBody>
          <a:bodyPr wrap="none" lIns="0" tIns="0" rIns="0" bIns="0" rtlCol="0" anchor="t"/>
          <a:lstStyle/>
          <a:p>
            <a:pPr marL="0" indent="0" algn="l">
              <a:lnSpc>
                <a:spcPts val="2500"/>
              </a:lnSpc>
              <a:buNone/>
            </a:pPr>
            <a:endParaRPr lang="en-US" sz="1700" dirty="0"/>
          </a:p>
        </p:txBody>
      </p:sp>
      <p:pic>
        <p:nvPicPr>
          <p:cNvPr id="14" name="Image 1" descr="preencoded.png"/>
          <p:cNvPicPr>
            <a:picLocks noChangeAspect="1"/>
          </p:cNvPicPr>
          <p:nvPr/>
        </p:nvPicPr>
        <p:blipFill>
          <a:blip r:embed="rId4"/>
          <a:stretch>
            <a:fillRect/>
          </a:stretch>
        </p:blipFill>
        <p:spPr>
          <a:xfrm>
            <a:off x="7557968" y="3583781"/>
            <a:ext cx="6286262" cy="330041"/>
          </a:xfrm>
          <a:prstGeom prst="rect">
            <a:avLst/>
          </a:prstGeom>
        </p:spPr>
      </p:pic>
      <p:sp>
        <p:nvSpPr>
          <p:cNvPr id="15" name="Text 11"/>
          <p:cNvSpPr/>
          <p:nvPr/>
        </p:nvSpPr>
        <p:spPr>
          <a:xfrm>
            <a:off x="7557968" y="4121229"/>
            <a:ext cx="6286262" cy="855821"/>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What it measures:</a:t>
            </a:r>
            <a:r>
              <a:rPr lang="en-US" sz="1500" dirty="0">
                <a:solidFill>
                  <a:srgbClr val="D7E5D8"/>
                </a:solidFill>
                <a:latin typeface="Syne" pitchFamily="34" charset="0"/>
                <a:ea typeface="Syne" pitchFamily="34" charset="-122"/>
                <a:cs typeface="Syne" pitchFamily="34" charset="-120"/>
              </a:rPr>
              <a:t> The cross-lingual hallucination gap; how much worse the model hallucinates in Urdu compared to English on the same images.</a:t>
            </a:r>
            <a:endParaRPr lang="en-US" sz="1500" dirty="0"/>
          </a:p>
        </p:txBody>
      </p:sp>
      <p:sp>
        <p:nvSpPr>
          <p:cNvPr id="16" name="Text 12"/>
          <p:cNvSpPr/>
          <p:nvPr/>
        </p:nvSpPr>
        <p:spPr>
          <a:xfrm>
            <a:off x="7557968" y="5124450"/>
            <a:ext cx="6286262" cy="570548"/>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Advantage:</a:t>
            </a:r>
            <a:r>
              <a:rPr lang="en-US" sz="1500" dirty="0">
                <a:solidFill>
                  <a:srgbClr val="D7E5D8"/>
                </a:solidFill>
                <a:latin typeface="Syne" pitchFamily="34" charset="0"/>
                <a:ea typeface="Syne" pitchFamily="34" charset="-122"/>
                <a:cs typeface="Syne" pitchFamily="34" charset="-120"/>
              </a:rPr>
              <a:t> No existing metric in any survey captures this. LGS is our original contribution.</a:t>
            </a:r>
            <a:endParaRPr lang="en-US" sz="1500" dirty="0"/>
          </a:p>
        </p:txBody>
      </p:sp>
      <p:sp>
        <p:nvSpPr>
          <p:cNvPr id="17" name="Text 13"/>
          <p:cNvSpPr/>
          <p:nvPr/>
        </p:nvSpPr>
        <p:spPr>
          <a:xfrm>
            <a:off x="7557968" y="5842397"/>
            <a:ext cx="6286262" cy="285274"/>
          </a:xfrm>
          <a:prstGeom prst="rect">
            <a:avLst/>
          </a:prstGeom>
          <a:noFill/>
          <a:ln/>
        </p:spPr>
        <p:txBody>
          <a:bodyPr wrap="non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Limitation:</a:t>
            </a:r>
            <a:r>
              <a:rPr lang="en-US" sz="1500" dirty="0">
                <a:solidFill>
                  <a:srgbClr val="D7E5D8"/>
                </a:solidFill>
                <a:latin typeface="Syne" pitchFamily="34" charset="0"/>
                <a:ea typeface="Syne" pitchFamily="34" charset="-122"/>
                <a:cs typeface="Syne" pitchFamily="34" charset="-120"/>
              </a:rPr>
              <a:t> Single number; hides breakdown of hallucination types</a:t>
            </a:r>
            <a:endParaRPr lang="en-US" sz="1500" dirty="0"/>
          </a:p>
        </p:txBody>
      </p:sp>
      <p:sp>
        <p:nvSpPr>
          <p:cNvPr id="18" name="Text 14"/>
          <p:cNvSpPr/>
          <p:nvPr/>
        </p:nvSpPr>
        <p:spPr>
          <a:xfrm>
            <a:off x="7557968" y="6275070"/>
            <a:ext cx="6286262" cy="855821"/>
          </a:xfrm>
          <a:prstGeom prst="rect">
            <a:avLst/>
          </a:prstGeom>
          <a:noFill/>
          <a:ln/>
        </p:spPr>
        <p:txBody>
          <a:bodyPr wrap="squar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Use in project:</a:t>
            </a:r>
            <a:r>
              <a:rPr lang="en-US" sz="1500" dirty="0">
                <a:solidFill>
                  <a:srgbClr val="D7E5D8"/>
                </a:solidFill>
                <a:latin typeface="Syne" pitchFamily="34" charset="0"/>
                <a:ea typeface="Syne" pitchFamily="34" charset="-122"/>
                <a:cs typeface="Syne" pitchFamily="34" charset="-120"/>
              </a:rPr>
              <a:t> Headline result of the paper. A positive LGS confirms the gap exists. A reduced LGS after fine-tuning and CVAA training is our primary evidence that the interventions worked.</a:t>
            </a:r>
            <a:endParaRPr lang="en-US" sz="1500" dirty="0"/>
          </a:p>
        </p:txBody>
      </p:sp>
      <p:sp>
        <p:nvSpPr>
          <p:cNvPr id="19" name="Rectangle 18">
            <a:extLst>
              <a:ext uri="{FF2B5EF4-FFF2-40B4-BE49-F238E27FC236}">
                <a16:creationId xmlns:a16="http://schemas.microsoft.com/office/drawing/2014/main" id="{4A457F1B-435E-F242-B4BF-7EE23F6B04C3}"/>
              </a:ext>
            </a:extLst>
          </p:cNvPr>
          <p:cNvSpPr/>
          <p:nvPr/>
        </p:nvSpPr>
        <p:spPr>
          <a:xfrm>
            <a:off x="11978521" y="7300436"/>
            <a:ext cx="2573820" cy="877990"/>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79371"/>
            <a:ext cx="12592764" cy="460772"/>
          </a:xfrm>
          <a:prstGeom prst="rect">
            <a:avLst/>
          </a:prstGeom>
          <a:noFill/>
          <a:ln/>
        </p:spPr>
        <p:txBody>
          <a:bodyPr wrap="none" lIns="0" tIns="0" rIns="0" bIns="0" rtlCol="0" anchor="t"/>
          <a:lstStyle/>
          <a:p>
            <a:pPr marL="0" indent="0" algn="l">
              <a:lnSpc>
                <a:spcPts val="3600"/>
              </a:lnSpc>
              <a:buNone/>
            </a:pPr>
            <a:r>
              <a:rPr lang="en-US" sz="2900" b="1" dirty="0">
                <a:solidFill>
                  <a:srgbClr val="F0F4F1"/>
                </a:solidFill>
                <a:latin typeface="Syne Extra Bold" pitchFamily="34" charset="0"/>
                <a:ea typeface="Syne Extra Bold" pitchFamily="34" charset="-122"/>
                <a:cs typeface="Syne Extra Bold" pitchFamily="34" charset="-120"/>
              </a:rPr>
              <a:t>All Metrics and Loss Functions - At a Glance</a:t>
            </a:r>
            <a:endParaRPr lang="en-US" sz="2900" dirty="0"/>
          </a:p>
        </p:txBody>
      </p:sp>
      <p:sp>
        <p:nvSpPr>
          <p:cNvPr id="3" name="Shape 1"/>
          <p:cNvSpPr/>
          <p:nvPr/>
        </p:nvSpPr>
        <p:spPr>
          <a:xfrm>
            <a:off x="793790" y="1331714"/>
            <a:ext cx="13042821" cy="5077301"/>
          </a:xfrm>
          <a:prstGeom prst="roundRect">
            <a:avLst>
              <a:gd name="adj" fmla="val 1220"/>
            </a:avLst>
          </a:prstGeom>
          <a:noFill/>
          <a:ln w="7620">
            <a:solidFill>
              <a:srgbClr val="FFFFFF">
                <a:alpha val="24000"/>
              </a:srgbClr>
            </a:solidFill>
            <a:prstDash val="solid"/>
          </a:ln>
        </p:spPr>
        <p:txBody>
          <a:bodyPr/>
          <a:lstStyle/>
          <a:p>
            <a:endParaRPr lang="en-PK"/>
          </a:p>
        </p:txBody>
      </p:sp>
      <p:sp>
        <p:nvSpPr>
          <p:cNvPr id="4" name="Shape 2"/>
          <p:cNvSpPr/>
          <p:nvPr/>
        </p:nvSpPr>
        <p:spPr>
          <a:xfrm>
            <a:off x="801410" y="1339334"/>
            <a:ext cx="13031391" cy="324564"/>
          </a:xfrm>
          <a:prstGeom prst="rect">
            <a:avLst/>
          </a:prstGeom>
          <a:solidFill>
            <a:srgbClr val="FFFFFF">
              <a:alpha val="4000"/>
            </a:srgbClr>
          </a:solidFill>
          <a:ln/>
        </p:spPr>
        <p:txBody>
          <a:bodyPr/>
          <a:lstStyle/>
          <a:p>
            <a:endParaRPr lang="en-PK"/>
          </a:p>
        </p:txBody>
      </p:sp>
      <p:sp>
        <p:nvSpPr>
          <p:cNvPr id="5" name="Text 3"/>
          <p:cNvSpPr/>
          <p:nvPr/>
        </p:nvSpPr>
        <p:spPr>
          <a:xfrm>
            <a:off x="949404" y="1404342"/>
            <a:ext cx="1562933" cy="194548"/>
          </a:xfrm>
          <a:prstGeom prst="rect">
            <a:avLst/>
          </a:prstGeom>
          <a:noFill/>
          <a:ln/>
        </p:spPr>
        <p:txBody>
          <a:bodyPr wrap="none" lIns="0" tIns="0" rIns="0" bIns="0" rtlCol="0" anchor="t"/>
          <a:lstStyle/>
          <a:p>
            <a:pPr marL="0" indent="0" algn="l">
              <a:lnSpc>
                <a:spcPts val="1500"/>
              </a:lnSpc>
              <a:buNone/>
            </a:pPr>
            <a:r>
              <a:rPr lang="en-US" sz="1150" b="1" dirty="0">
                <a:solidFill>
                  <a:srgbClr val="D7E5D8"/>
                </a:solidFill>
                <a:latin typeface="Syne" pitchFamily="34" charset="0"/>
                <a:ea typeface="Syne" pitchFamily="34" charset="-122"/>
                <a:cs typeface="Syne" pitchFamily="34" charset="-120"/>
              </a:rPr>
              <a:t>Loss / Metric</a:t>
            </a:r>
            <a:endParaRPr lang="en-US" sz="1150" dirty="0"/>
          </a:p>
        </p:txBody>
      </p:sp>
      <p:sp>
        <p:nvSpPr>
          <p:cNvPr id="6" name="Text 4"/>
          <p:cNvSpPr/>
          <p:nvPr/>
        </p:nvSpPr>
        <p:spPr>
          <a:xfrm>
            <a:off x="2814757" y="1404342"/>
            <a:ext cx="1559123" cy="194548"/>
          </a:xfrm>
          <a:prstGeom prst="rect">
            <a:avLst/>
          </a:prstGeom>
          <a:noFill/>
          <a:ln/>
        </p:spPr>
        <p:txBody>
          <a:bodyPr wrap="none" lIns="0" tIns="0" rIns="0" bIns="0" rtlCol="0" anchor="t"/>
          <a:lstStyle/>
          <a:p>
            <a:pPr marL="0" indent="0" algn="l">
              <a:lnSpc>
                <a:spcPts val="1500"/>
              </a:lnSpc>
              <a:buNone/>
            </a:pPr>
            <a:r>
              <a:rPr lang="en-US" sz="1150" b="1" dirty="0">
                <a:solidFill>
                  <a:srgbClr val="D7E5D8"/>
                </a:solidFill>
                <a:latin typeface="Syne" pitchFamily="34" charset="0"/>
                <a:ea typeface="Syne" pitchFamily="34" charset="-122"/>
                <a:cs typeface="Syne" pitchFamily="34" charset="-120"/>
              </a:rPr>
              <a:t>Type</a:t>
            </a:r>
            <a:endParaRPr lang="en-US" sz="1150" dirty="0"/>
          </a:p>
        </p:txBody>
      </p:sp>
      <p:sp>
        <p:nvSpPr>
          <p:cNvPr id="7" name="Text 5"/>
          <p:cNvSpPr/>
          <p:nvPr/>
        </p:nvSpPr>
        <p:spPr>
          <a:xfrm>
            <a:off x="4676299" y="1404342"/>
            <a:ext cx="1559123" cy="194548"/>
          </a:xfrm>
          <a:prstGeom prst="rect">
            <a:avLst/>
          </a:prstGeom>
          <a:noFill/>
          <a:ln/>
        </p:spPr>
        <p:txBody>
          <a:bodyPr wrap="none" lIns="0" tIns="0" rIns="0" bIns="0" rtlCol="0" anchor="t"/>
          <a:lstStyle/>
          <a:p>
            <a:pPr marL="0" indent="0" algn="l">
              <a:lnSpc>
                <a:spcPts val="1500"/>
              </a:lnSpc>
              <a:buNone/>
            </a:pPr>
            <a:r>
              <a:rPr lang="en-US" sz="1150" b="1" dirty="0">
                <a:solidFill>
                  <a:srgbClr val="D7E5D8"/>
                </a:solidFill>
                <a:latin typeface="Syne" pitchFamily="34" charset="0"/>
                <a:ea typeface="Syne" pitchFamily="34" charset="-122"/>
                <a:cs typeface="Syne" pitchFamily="34" charset="-120"/>
              </a:rPr>
              <a:t>Catches</a:t>
            </a:r>
            <a:endParaRPr lang="en-US" sz="1150" dirty="0"/>
          </a:p>
        </p:txBody>
      </p:sp>
      <p:sp>
        <p:nvSpPr>
          <p:cNvPr id="8" name="Text 6"/>
          <p:cNvSpPr/>
          <p:nvPr/>
        </p:nvSpPr>
        <p:spPr>
          <a:xfrm>
            <a:off x="6537841" y="1404342"/>
            <a:ext cx="1559123" cy="194548"/>
          </a:xfrm>
          <a:prstGeom prst="rect">
            <a:avLst/>
          </a:prstGeom>
          <a:noFill/>
          <a:ln/>
        </p:spPr>
        <p:txBody>
          <a:bodyPr wrap="none" lIns="0" tIns="0" rIns="0" bIns="0" rtlCol="0" anchor="t"/>
          <a:lstStyle/>
          <a:p>
            <a:pPr marL="0" indent="0" algn="l">
              <a:lnSpc>
                <a:spcPts val="1500"/>
              </a:lnSpc>
              <a:buNone/>
            </a:pPr>
            <a:r>
              <a:rPr lang="en-US" sz="1150" b="1" dirty="0">
                <a:solidFill>
                  <a:srgbClr val="D7E5D8"/>
                </a:solidFill>
                <a:latin typeface="Syne" pitchFamily="34" charset="0"/>
                <a:ea typeface="Syne" pitchFamily="34" charset="-122"/>
                <a:cs typeface="Syne" pitchFamily="34" charset="-120"/>
              </a:rPr>
              <a:t>Misses</a:t>
            </a:r>
            <a:endParaRPr lang="en-US" sz="1150" dirty="0"/>
          </a:p>
        </p:txBody>
      </p:sp>
      <p:sp>
        <p:nvSpPr>
          <p:cNvPr id="9" name="Text 7"/>
          <p:cNvSpPr/>
          <p:nvPr/>
        </p:nvSpPr>
        <p:spPr>
          <a:xfrm>
            <a:off x="8399383" y="1404342"/>
            <a:ext cx="1559123" cy="194548"/>
          </a:xfrm>
          <a:prstGeom prst="rect">
            <a:avLst/>
          </a:prstGeom>
          <a:noFill/>
          <a:ln/>
        </p:spPr>
        <p:txBody>
          <a:bodyPr wrap="none" lIns="0" tIns="0" rIns="0" bIns="0" rtlCol="0" anchor="t"/>
          <a:lstStyle/>
          <a:p>
            <a:pPr marL="0" indent="0" algn="l">
              <a:lnSpc>
                <a:spcPts val="1500"/>
              </a:lnSpc>
              <a:buNone/>
            </a:pPr>
            <a:r>
              <a:rPr lang="en-US" sz="1150" b="1" dirty="0">
                <a:solidFill>
                  <a:srgbClr val="D7E5D8"/>
                </a:solidFill>
                <a:latin typeface="Syne" pitchFamily="34" charset="0"/>
                <a:ea typeface="Syne" pitchFamily="34" charset="-122"/>
                <a:cs typeface="Syne" pitchFamily="34" charset="-120"/>
              </a:rPr>
              <a:t>Key Advantage</a:t>
            </a:r>
            <a:endParaRPr lang="en-US" sz="1150" dirty="0"/>
          </a:p>
        </p:txBody>
      </p:sp>
      <p:sp>
        <p:nvSpPr>
          <p:cNvPr id="10" name="Text 8"/>
          <p:cNvSpPr/>
          <p:nvPr/>
        </p:nvSpPr>
        <p:spPr>
          <a:xfrm>
            <a:off x="10260925" y="1404342"/>
            <a:ext cx="1559123" cy="194548"/>
          </a:xfrm>
          <a:prstGeom prst="rect">
            <a:avLst/>
          </a:prstGeom>
          <a:noFill/>
          <a:ln/>
        </p:spPr>
        <p:txBody>
          <a:bodyPr wrap="none" lIns="0" tIns="0" rIns="0" bIns="0" rtlCol="0" anchor="t"/>
          <a:lstStyle/>
          <a:p>
            <a:pPr marL="0" indent="0" algn="l">
              <a:lnSpc>
                <a:spcPts val="1500"/>
              </a:lnSpc>
              <a:buNone/>
            </a:pPr>
            <a:r>
              <a:rPr lang="en-US" sz="1150" b="1" dirty="0">
                <a:solidFill>
                  <a:srgbClr val="D7E5D8"/>
                </a:solidFill>
                <a:latin typeface="Syne" pitchFamily="34" charset="0"/>
                <a:ea typeface="Syne" pitchFamily="34" charset="-122"/>
                <a:cs typeface="Syne" pitchFamily="34" charset="-120"/>
              </a:rPr>
              <a:t>Key Limitation</a:t>
            </a:r>
            <a:endParaRPr lang="en-US" sz="1150" dirty="0"/>
          </a:p>
        </p:txBody>
      </p:sp>
      <p:sp>
        <p:nvSpPr>
          <p:cNvPr id="11" name="Text 9"/>
          <p:cNvSpPr/>
          <p:nvPr/>
        </p:nvSpPr>
        <p:spPr>
          <a:xfrm>
            <a:off x="12122468" y="1404342"/>
            <a:ext cx="1562933" cy="194548"/>
          </a:xfrm>
          <a:prstGeom prst="rect">
            <a:avLst/>
          </a:prstGeom>
          <a:noFill/>
          <a:ln/>
        </p:spPr>
        <p:txBody>
          <a:bodyPr wrap="none" lIns="0" tIns="0" rIns="0" bIns="0" rtlCol="0" anchor="t"/>
          <a:lstStyle/>
          <a:p>
            <a:pPr marL="0" indent="0" algn="l">
              <a:lnSpc>
                <a:spcPts val="1500"/>
              </a:lnSpc>
              <a:buNone/>
            </a:pPr>
            <a:r>
              <a:rPr lang="en-US" sz="1150" b="1" dirty="0">
                <a:solidFill>
                  <a:srgbClr val="D7E5D8"/>
                </a:solidFill>
                <a:latin typeface="Syne" pitchFamily="34" charset="0"/>
                <a:ea typeface="Syne" pitchFamily="34" charset="-122"/>
                <a:cs typeface="Syne" pitchFamily="34" charset="-120"/>
              </a:rPr>
              <a:t>Role in Project</a:t>
            </a:r>
            <a:endParaRPr lang="en-US" sz="1150" dirty="0"/>
          </a:p>
        </p:txBody>
      </p:sp>
      <p:sp>
        <p:nvSpPr>
          <p:cNvPr id="12" name="Shape 10"/>
          <p:cNvSpPr/>
          <p:nvPr/>
        </p:nvSpPr>
        <p:spPr>
          <a:xfrm>
            <a:off x="801410" y="1663898"/>
            <a:ext cx="13031391" cy="519113"/>
          </a:xfrm>
          <a:prstGeom prst="rect">
            <a:avLst/>
          </a:prstGeom>
          <a:solidFill>
            <a:srgbClr val="000000">
              <a:alpha val="4000"/>
            </a:srgbClr>
          </a:solidFill>
          <a:ln/>
        </p:spPr>
        <p:txBody>
          <a:bodyPr/>
          <a:lstStyle/>
          <a:p>
            <a:endParaRPr lang="en-PK"/>
          </a:p>
        </p:txBody>
      </p:sp>
      <p:sp>
        <p:nvSpPr>
          <p:cNvPr id="13" name="Text 11"/>
          <p:cNvSpPr/>
          <p:nvPr/>
        </p:nvSpPr>
        <p:spPr>
          <a:xfrm>
            <a:off x="949404" y="1728907"/>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Contrastive Loss</a:t>
            </a:r>
            <a:endParaRPr lang="en-US" sz="1150" dirty="0"/>
          </a:p>
        </p:txBody>
      </p:sp>
      <p:sp>
        <p:nvSpPr>
          <p:cNvPr id="14" name="Text 12"/>
          <p:cNvSpPr/>
          <p:nvPr/>
        </p:nvSpPr>
        <p:spPr>
          <a:xfrm>
            <a:off x="2814757" y="1728907"/>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Loss</a:t>
            </a:r>
            <a:endParaRPr lang="en-US" sz="1150" dirty="0"/>
          </a:p>
        </p:txBody>
      </p:sp>
      <p:sp>
        <p:nvSpPr>
          <p:cNvPr id="15" name="Text 13"/>
          <p:cNvSpPr/>
          <p:nvPr/>
        </p:nvSpPr>
        <p:spPr>
          <a:xfrm>
            <a:off x="4676299" y="1728907"/>
            <a:ext cx="1559123" cy="389096"/>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Embedding misalignment</a:t>
            </a:r>
            <a:endParaRPr lang="en-US" sz="1150" dirty="0"/>
          </a:p>
        </p:txBody>
      </p:sp>
      <p:sp>
        <p:nvSpPr>
          <p:cNvPr id="16" name="Text 14"/>
          <p:cNvSpPr/>
          <p:nvPr/>
        </p:nvSpPr>
        <p:spPr>
          <a:xfrm>
            <a:off x="6537841" y="1728907"/>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Factual errors</a:t>
            </a:r>
            <a:endParaRPr lang="en-US" sz="1150" dirty="0"/>
          </a:p>
        </p:txBody>
      </p:sp>
      <p:sp>
        <p:nvSpPr>
          <p:cNvPr id="17" name="Text 15"/>
          <p:cNvSpPr/>
          <p:nvPr/>
        </p:nvSpPr>
        <p:spPr>
          <a:xfrm>
            <a:off x="8399383" y="1728907"/>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Scales to web data</a:t>
            </a:r>
            <a:endParaRPr lang="en-US" sz="1150" dirty="0"/>
          </a:p>
        </p:txBody>
      </p:sp>
      <p:sp>
        <p:nvSpPr>
          <p:cNvPr id="18" name="Text 16"/>
          <p:cNvSpPr/>
          <p:nvPr/>
        </p:nvSpPr>
        <p:spPr>
          <a:xfrm>
            <a:off x="10260925" y="1728907"/>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English-biased</a:t>
            </a:r>
            <a:endParaRPr lang="en-US" sz="1150" dirty="0"/>
          </a:p>
        </p:txBody>
      </p:sp>
      <p:sp>
        <p:nvSpPr>
          <p:cNvPr id="19" name="Text 17"/>
          <p:cNvSpPr/>
          <p:nvPr/>
        </p:nvSpPr>
        <p:spPr>
          <a:xfrm>
            <a:off x="12122468" y="1728907"/>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Motivates CVAA</a:t>
            </a:r>
            <a:endParaRPr lang="en-US" sz="1150" dirty="0"/>
          </a:p>
        </p:txBody>
      </p:sp>
      <p:sp>
        <p:nvSpPr>
          <p:cNvPr id="20" name="Shape 18"/>
          <p:cNvSpPr/>
          <p:nvPr/>
        </p:nvSpPr>
        <p:spPr>
          <a:xfrm>
            <a:off x="801410" y="2183011"/>
            <a:ext cx="13031391" cy="519113"/>
          </a:xfrm>
          <a:prstGeom prst="rect">
            <a:avLst/>
          </a:prstGeom>
          <a:solidFill>
            <a:srgbClr val="FFFFFF">
              <a:alpha val="4000"/>
            </a:srgbClr>
          </a:solidFill>
          <a:ln/>
        </p:spPr>
        <p:txBody>
          <a:bodyPr/>
          <a:lstStyle/>
          <a:p>
            <a:endParaRPr lang="en-PK"/>
          </a:p>
        </p:txBody>
      </p:sp>
      <p:sp>
        <p:nvSpPr>
          <p:cNvPr id="21" name="Text 19"/>
          <p:cNvSpPr/>
          <p:nvPr/>
        </p:nvSpPr>
        <p:spPr>
          <a:xfrm>
            <a:off x="949404" y="2248019"/>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BCE</a:t>
            </a:r>
            <a:endParaRPr lang="en-US" sz="1150" dirty="0"/>
          </a:p>
        </p:txBody>
      </p:sp>
      <p:sp>
        <p:nvSpPr>
          <p:cNvPr id="22" name="Text 20"/>
          <p:cNvSpPr/>
          <p:nvPr/>
        </p:nvSpPr>
        <p:spPr>
          <a:xfrm>
            <a:off x="2814757" y="224801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Loss</a:t>
            </a:r>
            <a:endParaRPr lang="en-US" sz="1150" dirty="0"/>
          </a:p>
        </p:txBody>
      </p:sp>
      <p:sp>
        <p:nvSpPr>
          <p:cNvPr id="23" name="Text 21"/>
          <p:cNvSpPr/>
          <p:nvPr/>
        </p:nvSpPr>
        <p:spPr>
          <a:xfrm>
            <a:off x="4676299" y="224801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Binary prediction error</a:t>
            </a:r>
            <a:endParaRPr lang="en-US" sz="1150" dirty="0"/>
          </a:p>
        </p:txBody>
      </p:sp>
      <p:sp>
        <p:nvSpPr>
          <p:cNvPr id="24" name="Text 22"/>
          <p:cNvSpPr/>
          <p:nvPr/>
        </p:nvSpPr>
        <p:spPr>
          <a:xfrm>
            <a:off x="6537841" y="224801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Imbalance</a:t>
            </a:r>
            <a:endParaRPr lang="en-US" sz="1150" dirty="0"/>
          </a:p>
        </p:txBody>
      </p:sp>
      <p:sp>
        <p:nvSpPr>
          <p:cNvPr id="25" name="Text 23"/>
          <p:cNvSpPr/>
          <p:nvPr/>
        </p:nvSpPr>
        <p:spPr>
          <a:xfrm>
            <a:off x="8399383" y="2248019"/>
            <a:ext cx="1559123" cy="389096"/>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Differentiable, probabilistic</a:t>
            </a:r>
            <a:endParaRPr lang="en-US" sz="1150" dirty="0"/>
          </a:p>
        </p:txBody>
      </p:sp>
      <p:sp>
        <p:nvSpPr>
          <p:cNvPr id="26" name="Text 24"/>
          <p:cNvSpPr/>
          <p:nvPr/>
        </p:nvSpPr>
        <p:spPr>
          <a:xfrm>
            <a:off x="10260925" y="224801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Imbalance-sensitive</a:t>
            </a:r>
            <a:endParaRPr lang="en-US" sz="1150" dirty="0"/>
          </a:p>
        </p:txBody>
      </p:sp>
      <p:sp>
        <p:nvSpPr>
          <p:cNvPr id="27" name="Text 25"/>
          <p:cNvSpPr/>
          <p:nvPr/>
        </p:nvSpPr>
        <p:spPr>
          <a:xfrm>
            <a:off x="12122468" y="2248019"/>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Frames evaluation</a:t>
            </a:r>
            <a:endParaRPr lang="en-US" sz="1150" dirty="0"/>
          </a:p>
        </p:txBody>
      </p:sp>
      <p:sp>
        <p:nvSpPr>
          <p:cNvPr id="28" name="Shape 26"/>
          <p:cNvSpPr/>
          <p:nvPr/>
        </p:nvSpPr>
        <p:spPr>
          <a:xfrm>
            <a:off x="801410" y="2702123"/>
            <a:ext cx="13031391" cy="519113"/>
          </a:xfrm>
          <a:prstGeom prst="rect">
            <a:avLst/>
          </a:prstGeom>
          <a:solidFill>
            <a:srgbClr val="000000">
              <a:alpha val="4000"/>
            </a:srgbClr>
          </a:solidFill>
          <a:ln/>
        </p:spPr>
        <p:txBody>
          <a:bodyPr/>
          <a:lstStyle/>
          <a:p>
            <a:endParaRPr lang="en-PK"/>
          </a:p>
        </p:txBody>
      </p:sp>
      <p:sp>
        <p:nvSpPr>
          <p:cNvPr id="29" name="Text 27"/>
          <p:cNvSpPr/>
          <p:nvPr/>
        </p:nvSpPr>
        <p:spPr>
          <a:xfrm>
            <a:off x="949404" y="2767132"/>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Focal Loss</a:t>
            </a:r>
            <a:endParaRPr lang="en-US" sz="1150" dirty="0"/>
          </a:p>
        </p:txBody>
      </p:sp>
      <p:sp>
        <p:nvSpPr>
          <p:cNvPr id="30" name="Text 28"/>
          <p:cNvSpPr/>
          <p:nvPr/>
        </p:nvSpPr>
        <p:spPr>
          <a:xfrm>
            <a:off x="2814757" y="276713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Loss</a:t>
            </a:r>
            <a:endParaRPr lang="en-US" sz="1150" dirty="0"/>
          </a:p>
        </p:txBody>
      </p:sp>
      <p:sp>
        <p:nvSpPr>
          <p:cNvPr id="31" name="Text 29"/>
          <p:cNvSpPr/>
          <p:nvPr/>
        </p:nvSpPr>
        <p:spPr>
          <a:xfrm>
            <a:off x="4676299" y="276713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Hard examples</a:t>
            </a:r>
            <a:endParaRPr lang="en-US" sz="1150" dirty="0"/>
          </a:p>
        </p:txBody>
      </p:sp>
      <p:sp>
        <p:nvSpPr>
          <p:cNvPr id="32" name="Text 30"/>
          <p:cNvSpPr/>
          <p:nvPr/>
        </p:nvSpPr>
        <p:spPr>
          <a:xfrm>
            <a:off x="6537841" y="276713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a:t>
            </a:r>
            <a:endParaRPr lang="en-US" sz="1150" dirty="0"/>
          </a:p>
        </p:txBody>
      </p:sp>
      <p:sp>
        <p:nvSpPr>
          <p:cNvPr id="33" name="Text 31"/>
          <p:cNvSpPr/>
          <p:nvPr/>
        </p:nvSpPr>
        <p:spPr>
          <a:xfrm>
            <a:off x="8399383" y="276713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Adaptive weighting</a:t>
            </a:r>
            <a:endParaRPr lang="en-US" sz="1150" dirty="0"/>
          </a:p>
        </p:txBody>
      </p:sp>
      <p:sp>
        <p:nvSpPr>
          <p:cNvPr id="34" name="Text 32"/>
          <p:cNvSpPr/>
          <p:nvPr/>
        </p:nvSpPr>
        <p:spPr>
          <a:xfrm>
            <a:off x="10260925" y="276713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γ tuning</a:t>
            </a:r>
            <a:endParaRPr lang="en-US" sz="1150" dirty="0"/>
          </a:p>
        </p:txBody>
      </p:sp>
      <p:sp>
        <p:nvSpPr>
          <p:cNvPr id="35" name="Text 33"/>
          <p:cNvSpPr/>
          <p:nvPr/>
        </p:nvSpPr>
        <p:spPr>
          <a:xfrm>
            <a:off x="12122468" y="2767132"/>
            <a:ext cx="1562933" cy="389096"/>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Considered, not adopted</a:t>
            </a:r>
            <a:endParaRPr lang="en-US" sz="1150" dirty="0"/>
          </a:p>
        </p:txBody>
      </p:sp>
      <p:sp>
        <p:nvSpPr>
          <p:cNvPr id="36" name="Shape 34"/>
          <p:cNvSpPr/>
          <p:nvPr/>
        </p:nvSpPr>
        <p:spPr>
          <a:xfrm>
            <a:off x="801410" y="3221236"/>
            <a:ext cx="13031391" cy="324564"/>
          </a:xfrm>
          <a:prstGeom prst="rect">
            <a:avLst/>
          </a:prstGeom>
          <a:solidFill>
            <a:srgbClr val="FFFFFF">
              <a:alpha val="4000"/>
            </a:srgbClr>
          </a:solidFill>
          <a:ln/>
        </p:spPr>
        <p:txBody>
          <a:bodyPr/>
          <a:lstStyle/>
          <a:p>
            <a:endParaRPr lang="en-PK"/>
          </a:p>
        </p:txBody>
      </p:sp>
      <p:sp>
        <p:nvSpPr>
          <p:cNvPr id="37" name="Text 35"/>
          <p:cNvSpPr/>
          <p:nvPr/>
        </p:nvSpPr>
        <p:spPr>
          <a:xfrm>
            <a:off x="949404" y="3286244"/>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Token-level CE</a:t>
            </a:r>
            <a:endParaRPr lang="en-US" sz="1150" dirty="0"/>
          </a:p>
        </p:txBody>
      </p:sp>
      <p:sp>
        <p:nvSpPr>
          <p:cNvPr id="38" name="Text 36"/>
          <p:cNvSpPr/>
          <p:nvPr/>
        </p:nvSpPr>
        <p:spPr>
          <a:xfrm>
            <a:off x="2814757" y="3286244"/>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Loss</a:t>
            </a:r>
            <a:endParaRPr lang="en-US" sz="1150" dirty="0"/>
          </a:p>
        </p:txBody>
      </p:sp>
      <p:sp>
        <p:nvSpPr>
          <p:cNvPr id="39" name="Text 37"/>
          <p:cNvSpPr/>
          <p:nvPr/>
        </p:nvSpPr>
        <p:spPr>
          <a:xfrm>
            <a:off x="4676299" y="3286244"/>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Next-token prediction</a:t>
            </a:r>
            <a:endParaRPr lang="en-US" sz="1150" dirty="0"/>
          </a:p>
        </p:txBody>
      </p:sp>
      <p:sp>
        <p:nvSpPr>
          <p:cNvPr id="40" name="Text 38"/>
          <p:cNvSpPr/>
          <p:nvPr/>
        </p:nvSpPr>
        <p:spPr>
          <a:xfrm>
            <a:off x="6537841" y="3286244"/>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Hallucination</a:t>
            </a:r>
            <a:endParaRPr lang="en-US" sz="1150" dirty="0"/>
          </a:p>
        </p:txBody>
      </p:sp>
      <p:sp>
        <p:nvSpPr>
          <p:cNvPr id="41" name="Text 39"/>
          <p:cNvSpPr/>
          <p:nvPr/>
        </p:nvSpPr>
        <p:spPr>
          <a:xfrm>
            <a:off x="8399383" y="3286244"/>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Universal, efficient</a:t>
            </a:r>
            <a:endParaRPr lang="en-US" sz="1150" dirty="0"/>
          </a:p>
        </p:txBody>
      </p:sp>
      <p:sp>
        <p:nvSpPr>
          <p:cNvPr id="42" name="Text 40"/>
          <p:cNvSpPr/>
          <p:nvPr/>
        </p:nvSpPr>
        <p:spPr>
          <a:xfrm>
            <a:off x="10260925" y="3286244"/>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Training-eval mismatch</a:t>
            </a:r>
            <a:endParaRPr lang="en-US" sz="1150" dirty="0"/>
          </a:p>
        </p:txBody>
      </p:sp>
      <p:sp>
        <p:nvSpPr>
          <p:cNvPr id="43" name="Text 41"/>
          <p:cNvSpPr/>
          <p:nvPr/>
        </p:nvSpPr>
        <p:spPr>
          <a:xfrm>
            <a:off x="12122468" y="3286244"/>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QLoRA + CVAA training</a:t>
            </a:r>
            <a:endParaRPr lang="en-US" sz="1150" dirty="0"/>
          </a:p>
        </p:txBody>
      </p:sp>
      <p:sp>
        <p:nvSpPr>
          <p:cNvPr id="44" name="Shape 42"/>
          <p:cNvSpPr/>
          <p:nvPr/>
        </p:nvSpPr>
        <p:spPr>
          <a:xfrm>
            <a:off x="801410" y="3545800"/>
            <a:ext cx="13031391" cy="324564"/>
          </a:xfrm>
          <a:prstGeom prst="rect">
            <a:avLst/>
          </a:prstGeom>
          <a:solidFill>
            <a:srgbClr val="000000">
              <a:alpha val="4000"/>
            </a:srgbClr>
          </a:solidFill>
          <a:ln/>
        </p:spPr>
        <p:txBody>
          <a:bodyPr/>
          <a:lstStyle/>
          <a:p>
            <a:endParaRPr lang="en-PK"/>
          </a:p>
        </p:txBody>
      </p:sp>
      <p:sp>
        <p:nvSpPr>
          <p:cNvPr id="45" name="Text 43"/>
          <p:cNvSpPr/>
          <p:nvPr/>
        </p:nvSpPr>
        <p:spPr>
          <a:xfrm>
            <a:off x="949404" y="3610808"/>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Accuracy</a:t>
            </a:r>
            <a:endParaRPr lang="en-US" sz="1150" dirty="0"/>
          </a:p>
        </p:txBody>
      </p:sp>
      <p:sp>
        <p:nvSpPr>
          <p:cNvPr id="46" name="Text 44"/>
          <p:cNvSpPr/>
          <p:nvPr/>
        </p:nvSpPr>
        <p:spPr>
          <a:xfrm>
            <a:off x="2814757" y="3610808"/>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Metric</a:t>
            </a:r>
            <a:endParaRPr lang="en-US" sz="1150" dirty="0"/>
          </a:p>
        </p:txBody>
      </p:sp>
      <p:sp>
        <p:nvSpPr>
          <p:cNvPr id="47" name="Text 45"/>
          <p:cNvSpPr/>
          <p:nvPr/>
        </p:nvSpPr>
        <p:spPr>
          <a:xfrm>
            <a:off x="4676299" y="3610808"/>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Overall correctness</a:t>
            </a:r>
            <a:endParaRPr lang="en-US" sz="1150" dirty="0"/>
          </a:p>
        </p:txBody>
      </p:sp>
      <p:sp>
        <p:nvSpPr>
          <p:cNvPr id="48" name="Text 46"/>
          <p:cNvSpPr/>
          <p:nvPr/>
        </p:nvSpPr>
        <p:spPr>
          <a:xfrm>
            <a:off x="6537841" y="3610808"/>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Imbalanced skew</a:t>
            </a:r>
            <a:endParaRPr lang="en-US" sz="1150" dirty="0"/>
          </a:p>
        </p:txBody>
      </p:sp>
      <p:sp>
        <p:nvSpPr>
          <p:cNvPr id="49" name="Text 47"/>
          <p:cNvSpPr/>
          <p:nvPr/>
        </p:nvSpPr>
        <p:spPr>
          <a:xfrm>
            <a:off x="8399383" y="3610808"/>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Simple</a:t>
            </a:r>
            <a:endParaRPr lang="en-US" sz="1150" dirty="0"/>
          </a:p>
        </p:txBody>
      </p:sp>
      <p:sp>
        <p:nvSpPr>
          <p:cNvPr id="50" name="Text 48"/>
          <p:cNvSpPr/>
          <p:nvPr/>
        </p:nvSpPr>
        <p:spPr>
          <a:xfrm>
            <a:off x="10260925" y="3610808"/>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Misleading alone</a:t>
            </a:r>
            <a:endParaRPr lang="en-US" sz="1150" dirty="0"/>
          </a:p>
        </p:txBody>
      </p:sp>
      <p:sp>
        <p:nvSpPr>
          <p:cNvPr id="51" name="Text 49"/>
          <p:cNvSpPr/>
          <p:nvPr/>
        </p:nvSpPr>
        <p:spPr>
          <a:xfrm>
            <a:off x="12122468" y="3610808"/>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Baseline only</a:t>
            </a:r>
            <a:endParaRPr lang="en-US" sz="1150" dirty="0"/>
          </a:p>
        </p:txBody>
      </p:sp>
      <p:sp>
        <p:nvSpPr>
          <p:cNvPr id="52" name="Shape 50"/>
          <p:cNvSpPr/>
          <p:nvPr/>
        </p:nvSpPr>
        <p:spPr>
          <a:xfrm>
            <a:off x="801410" y="3870365"/>
            <a:ext cx="13031391" cy="519113"/>
          </a:xfrm>
          <a:prstGeom prst="rect">
            <a:avLst/>
          </a:prstGeom>
          <a:solidFill>
            <a:srgbClr val="FFFFFF">
              <a:alpha val="4000"/>
            </a:srgbClr>
          </a:solidFill>
          <a:ln/>
        </p:spPr>
        <p:txBody>
          <a:bodyPr/>
          <a:lstStyle/>
          <a:p>
            <a:endParaRPr lang="en-PK"/>
          </a:p>
        </p:txBody>
      </p:sp>
      <p:sp>
        <p:nvSpPr>
          <p:cNvPr id="53" name="Text 51"/>
          <p:cNvSpPr/>
          <p:nvPr/>
        </p:nvSpPr>
        <p:spPr>
          <a:xfrm>
            <a:off x="949404" y="3935373"/>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F1-Score</a:t>
            </a:r>
            <a:endParaRPr lang="en-US" sz="1150" dirty="0"/>
          </a:p>
        </p:txBody>
      </p:sp>
      <p:sp>
        <p:nvSpPr>
          <p:cNvPr id="54" name="Text 52"/>
          <p:cNvSpPr/>
          <p:nvPr/>
        </p:nvSpPr>
        <p:spPr>
          <a:xfrm>
            <a:off x="2814757" y="3935373"/>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Metric</a:t>
            </a:r>
            <a:endParaRPr lang="en-US" sz="1150" dirty="0"/>
          </a:p>
        </p:txBody>
      </p:sp>
      <p:sp>
        <p:nvSpPr>
          <p:cNvPr id="55" name="Text 53"/>
          <p:cNvSpPr/>
          <p:nvPr/>
        </p:nvSpPr>
        <p:spPr>
          <a:xfrm>
            <a:off x="4676299" y="3935373"/>
            <a:ext cx="1559123" cy="389096"/>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Precision + Recall balance</a:t>
            </a:r>
            <a:endParaRPr lang="en-US" sz="1150" dirty="0"/>
          </a:p>
        </p:txBody>
      </p:sp>
      <p:sp>
        <p:nvSpPr>
          <p:cNvPr id="56" name="Text 54"/>
          <p:cNvSpPr/>
          <p:nvPr/>
        </p:nvSpPr>
        <p:spPr>
          <a:xfrm>
            <a:off x="6537841" y="3935373"/>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Cost asymmetry</a:t>
            </a:r>
            <a:endParaRPr lang="en-US" sz="1150" dirty="0"/>
          </a:p>
        </p:txBody>
      </p:sp>
      <p:sp>
        <p:nvSpPr>
          <p:cNvPr id="57" name="Text 55"/>
          <p:cNvSpPr/>
          <p:nvPr/>
        </p:nvSpPr>
        <p:spPr>
          <a:xfrm>
            <a:off x="8399383" y="3935373"/>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Primary, interpretable</a:t>
            </a:r>
            <a:endParaRPr lang="en-US" sz="1150" dirty="0"/>
          </a:p>
        </p:txBody>
      </p:sp>
      <p:sp>
        <p:nvSpPr>
          <p:cNvPr id="58" name="Text 56"/>
          <p:cNvSpPr/>
          <p:nvPr/>
        </p:nvSpPr>
        <p:spPr>
          <a:xfrm>
            <a:off x="10260925" y="3935373"/>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Fixed threshold</a:t>
            </a:r>
            <a:endParaRPr lang="en-US" sz="1150" dirty="0"/>
          </a:p>
        </p:txBody>
      </p:sp>
      <p:sp>
        <p:nvSpPr>
          <p:cNvPr id="59" name="Text 57"/>
          <p:cNvSpPr/>
          <p:nvPr/>
        </p:nvSpPr>
        <p:spPr>
          <a:xfrm>
            <a:off x="12122468" y="3935373"/>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Primary metric</a:t>
            </a:r>
            <a:endParaRPr lang="en-US" sz="1150" dirty="0"/>
          </a:p>
        </p:txBody>
      </p:sp>
      <p:sp>
        <p:nvSpPr>
          <p:cNvPr id="60" name="Shape 58"/>
          <p:cNvSpPr/>
          <p:nvPr/>
        </p:nvSpPr>
        <p:spPr>
          <a:xfrm>
            <a:off x="801410" y="4389477"/>
            <a:ext cx="13031391" cy="324564"/>
          </a:xfrm>
          <a:prstGeom prst="rect">
            <a:avLst/>
          </a:prstGeom>
          <a:solidFill>
            <a:srgbClr val="000000">
              <a:alpha val="4000"/>
            </a:srgbClr>
          </a:solidFill>
          <a:ln/>
        </p:spPr>
        <p:txBody>
          <a:bodyPr/>
          <a:lstStyle/>
          <a:p>
            <a:endParaRPr lang="en-PK"/>
          </a:p>
        </p:txBody>
      </p:sp>
      <p:sp>
        <p:nvSpPr>
          <p:cNvPr id="61" name="Text 59"/>
          <p:cNvSpPr/>
          <p:nvPr/>
        </p:nvSpPr>
        <p:spPr>
          <a:xfrm>
            <a:off x="949404" y="4454485"/>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AP</a:t>
            </a:r>
            <a:endParaRPr lang="en-US" sz="1150" dirty="0"/>
          </a:p>
        </p:txBody>
      </p:sp>
      <p:sp>
        <p:nvSpPr>
          <p:cNvPr id="62" name="Text 60"/>
          <p:cNvSpPr/>
          <p:nvPr/>
        </p:nvSpPr>
        <p:spPr>
          <a:xfrm>
            <a:off x="2814757" y="4454485"/>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Metric</a:t>
            </a:r>
            <a:endParaRPr lang="en-US" sz="1150" dirty="0"/>
          </a:p>
        </p:txBody>
      </p:sp>
      <p:sp>
        <p:nvSpPr>
          <p:cNvPr id="63" name="Text 61"/>
          <p:cNvSpPr/>
          <p:nvPr/>
        </p:nvSpPr>
        <p:spPr>
          <a:xfrm>
            <a:off x="4676299" y="4454485"/>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Full PR curve</a:t>
            </a:r>
            <a:endParaRPr lang="en-US" sz="1150" dirty="0"/>
          </a:p>
        </p:txBody>
      </p:sp>
      <p:sp>
        <p:nvSpPr>
          <p:cNvPr id="64" name="Text 62"/>
          <p:cNvSpPr/>
          <p:nvPr/>
        </p:nvSpPr>
        <p:spPr>
          <a:xfrm>
            <a:off x="6537841" y="4454485"/>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a:t>
            </a:r>
            <a:endParaRPr lang="en-US" sz="1150" dirty="0"/>
          </a:p>
        </p:txBody>
      </p:sp>
      <p:sp>
        <p:nvSpPr>
          <p:cNvPr id="65" name="Text 63"/>
          <p:cNvSpPr/>
          <p:nvPr/>
        </p:nvSpPr>
        <p:spPr>
          <a:xfrm>
            <a:off x="8399383" y="4454485"/>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Threshold-independent</a:t>
            </a:r>
            <a:endParaRPr lang="en-US" sz="1150" dirty="0"/>
          </a:p>
        </p:txBody>
      </p:sp>
      <p:sp>
        <p:nvSpPr>
          <p:cNvPr id="66" name="Text 64"/>
          <p:cNvSpPr/>
          <p:nvPr/>
        </p:nvSpPr>
        <p:spPr>
          <a:xfrm>
            <a:off x="10260925" y="4454485"/>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Less intuitive</a:t>
            </a:r>
            <a:endParaRPr lang="en-US" sz="1150" dirty="0"/>
          </a:p>
        </p:txBody>
      </p:sp>
      <p:sp>
        <p:nvSpPr>
          <p:cNvPr id="67" name="Text 65"/>
          <p:cNvSpPr/>
          <p:nvPr/>
        </p:nvSpPr>
        <p:spPr>
          <a:xfrm>
            <a:off x="12122468" y="4454485"/>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Benchmarking</a:t>
            </a:r>
            <a:endParaRPr lang="en-US" sz="1150" dirty="0"/>
          </a:p>
        </p:txBody>
      </p:sp>
      <p:sp>
        <p:nvSpPr>
          <p:cNvPr id="68" name="Shape 66"/>
          <p:cNvSpPr/>
          <p:nvPr/>
        </p:nvSpPr>
        <p:spPr>
          <a:xfrm>
            <a:off x="801410" y="4714042"/>
            <a:ext cx="13031391" cy="519113"/>
          </a:xfrm>
          <a:prstGeom prst="rect">
            <a:avLst/>
          </a:prstGeom>
          <a:solidFill>
            <a:srgbClr val="FFFFFF">
              <a:alpha val="4000"/>
            </a:srgbClr>
          </a:solidFill>
          <a:ln/>
        </p:spPr>
        <p:txBody>
          <a:bodyPr/>
          <a:lstStyle/>
          <a:p>
            <a:endParaRPr lang="en-PK"/>
          </a:p>
        </p:txBody>
      </p:sp>
      <p:sp>
        <p:nvSpPr>
          <p:cNvPr id="69" name="Text 67"/>
          <p:cNvSpPr/>
          <p:nvPr/>
        </p:nvSpPr>
        <p:spPr>
          <a:xfrm>
            <a:off x="949404" y="4779050"/>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AUC-ROC</a:t>
            </a:r>
            <a:endParaRPr lang="en-US" sz="1150" dirty="0"/>
          </a:p>
        </p:txBody>
      </p:sp>
      <p:sp>
        <p:nvSpPr>
          <p:cNvPr id="70" name="Text 68"/>
          <p:cNvSpPr/>
          <p:nvPr/>
        </p:nvSpPr>
        <p:spPr>
          <a:xfrm>
            <a:off x="2814757" y="4779050"/>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Metric</a:t>
            </a:r>
            <a:endParaRPr lang="en-US" sz="1150" dirty="0"/>
          </a:p>
        </p:txBody>
      </p:sp>
      <p:sp>
        <p:nvSpPr>
          <p:cNvPr id="71" name="Text 69"/>
          <p:cNvSpPr/>
          <p:nvPr/>
        </p:nvSpPr>
        <p:spPr>
          <a:xfrm>
            <a:off x="4676299" y="4779050"/>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Full ROC curve</a:t>
            </a:r>
            <a:endParaRPr lang="en-US" sz="1150" dirty="0"/>
          </a:p>
        </p:txBody>
      </p:sp>
      <p:sp>
        <p:nvSpPr>
          <p:cNvPr id="72" name="Text 70"/>
          <p:cNvSpPr/>
          <p:nvPr/>
        </p:nvSpPr>
        <p:spPr>
          <a:xfrm>
            <a:off x="6537841" y="4779050"/>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a:t>
            </a:r>
            <a:endParaRPr lang="en-US" sz="1150" dirty="0"/>
          </a:p>
        </p:txBody>
      </p:sp>
      <p:sp>
        <p:nvSpPr>
          <p:cNvPr id="73" name="Text 71"/>
          <p:cNvSpPr/>
          <p:nvPr/>
        </p:nvSpPr>
        <p:spPr>
          <a:xfrm>
            <a:off x="8399383" y="4779050"/>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Imbalance-robust</a:t>
            </a:r>
            <a:endParaRPr lang="en-US" sz="1150" dirty="0"/>
          </a:p>
        </p:txBody>
      </p:sp>
      <p:sp>
        <p:nvSpPr>
          <p:cNvPr id="74" name="Text 72"/>
          <p:cNvSpPr/>
          <p:nvPr/>
        </p:nvSpPr>
        <p:spPr>
          <a:xfrm>
            <a:off x="10260925" y="4779050"/>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Unintuitive</a:t>
            </a:r>
            <a:endParaRPr lang="en-US" sz="1150" dirty="0"/>
          </a:p>
        </p:txBody>
      </p:sp>
      <p:sp>
        <p:nvSpPr>
          <p:cNvPr id="75" name="Text 73"/>
          <p:cNvSpPr/>
          <p:nvPr/>
        </p:nvSpPr>
        <p:spPr>
          <a:xfrm>
            <a:off x="12122468" y="4779050"/>
            <a:ext cx="1562933" cy="389096"/>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Cross-model comparison</a:t>
            </a:r>
            <a:endParaRPr lang="en-US" sz="1150" dirty="0"/>
          </a:p>
        </p:txBody>
      </p:sp>
      <p:sp>
        <p:nvSpPr>
          <p:cNvPr id="76" name="Shape 74"/>
          <p:cNvSpPr/>
          <p:nvPr/>
        </p:nvSpPr>
        <p:spPr>
          <a:xfrm>
            <a:off x="801410" y="5233154"/>
            <a:ext cx="13031391" cy="324564"/>
          </a:xfrm>
          <a:prstGeom prst="rect">
            <a:avLst/>
          </a:prstGeom>
          <a:solidFill>
            <a:srgbClr val="000000">
              <a:alpha val="4000"/>
            </a:srgbClr>
          </a:solidFill>
          <a:ln/>
        </p:spPr>
        <p:txBody>
          <a:bodyPr/>
          <a:lstStyle/>
          <a:p>
            <a:endParaRPr lang="en-PK"/>
          </a:p>
        </p:txBody>
      </p:sp>
      <p:sp>
        <p:nvSpPr>
          <p:cNvPr id="77" name="Text 75"/>
          <p:cNvSpPr/>
          <p:nvPr/>
        </p:nvSpPr>
        <p:spPr>
          <a:xfrm>
            <a:off x="949404" y="5298162"/>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Perplexity</a:t>
            </a:r>
            <a:endParaRPr lang="en-US" sz="1150" dirty="0"/>
          </a:p>
        </p:txBody>
      </p:sp>
      <p:sp>
        <p:nvSpPr>
          <p:cNvPr id="78" name="Text 76"/>
          <p:cNvSpPr/>
          <p:nvPr/>
        </p:nvSpPr>
        <p:spPr>
          <a:xfrm>
            <a:off x="2814757" y="529816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Metric</a:t>
            </a:r>
            <a:endParaRPr lang="en-US" sz="1150" dirty="0"/>
          </a:p>
        </p:txBody>
      </p:sp>
      <p:sp>
        <p:nvSpPr>
          <p:cNvPr id="79" name="Text 77"/>
          <p:cNvSpPr/>
          <p:nvPr/>
        </p:nvSpPr>
        <p:spPr>
          <a:xfrm>
            <a:off x="4676299" y="529816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Training convergence</a:t>
            </a:r>
            <a:endParaRPr lang="en-US" sz="1150" dirty="0"/>
          </a:p>
        </p:txBody>
      </p:sp>
      <p:sp>
        <p:nvSpPr>
          <p:cNvPr id="80" name="Text 78"/>
          <p:cNvSpPr/>
          <p:nvPr/>
        </p:nvSpPr>
        <p:spPr>
          <a:xfrm>
            <a:off x="6537841" y="529816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Hallucination</a:t>
            </a:r>
            <a:endParaRPr lang="en-US" sz="1150" dirty="0"/>
          </a:p>
        </p:txBody>
      </p:sp>
      <p:sp>
        <p:nvSpPr>
          <p:cNvPr id="81" name="Text 79"/>
          <p:cNvSpPr/>
          <p:nvPr/>
        </p:nvSpPr>
        <p:spPr>
          <a:xfrm>
            <a:off x="8399383" y="529816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Training signal</a:t>
            </a:r>
            <a:endParaRPr lang="en-US" sz="1150" dirty="0"/>
          </a:p>
        </p:txBody>
      </p:sp>
      <p:sp>
        <p:nvSpPr>
          <p:cNvPr id="82" name="Text 80"/>
          <p:cNvSpPr/>
          <p:nvPr/>
        </p:nvSpPr>
        <p:spPr>
          <a:xfrm>
            <a:off x="10260925" y="5298162"/>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Not eval-aligned</a:t>
            </a:r>
            <a:endParaRPr lang="en-US" sz="1150" dirty="0"/>
          </a:p>
        </p:txBody>
      </p:sp>
      <p:sp>
        <p:nvSpPr>
          <p:cNvPr id="83" name="Text 81"/>
          <p:cNvSpPr/>
          <p:nvPr/>
        </p:nvSpPr>
        <p:spPr>
          <a:xfrm>
            <a:off x="12122468" y="5298162"/>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Fine-tuning monitoring</a:t>
            </a:r>
            <a:endParaRPr lang="en-US" sz="1150" dirty="0"/>
          </a:p>
        </p:txBody>
      </p:sp>
      <p:sp>
        <p:nvSpPr>
          <p:cNvPr id="84" name="Shape 82"/>
          <p:cNvSpPr/>
          <p:nvPr/>
        </p:nvSpPr>
        <p:spPr>
          <a:xfrm>
            <a:off x="801410" y="5557718"/>
            <a:ext cx="13031391" cy="519113"/>
          </a:xfrm>
          <a:prstGeom prst="rect">
            <a:avLst/>
          </a:prstGeom>
          <a:solidFill>
            <a:srgbClr val="FFFFFF">
              <a:alpha val="4000"/>
            </a:srgbClr>
          </a:solidFill>
          <a:ln/>
        </p:spPr>
        <p:txBody>
          <a:bodyPr/>
          <a:lstStyle/>
          <a:p>
            <a:endParaRPr lang="en-PK"/>
          </a:p>
        </p:txBody>
      </p:sp>
      <p:sp>
        <p:nvSpPr>
          <p:cNvPr id="85" name="Text 83"/>
          <p:cNvSpPr/>
          <p:nvPr/>
        </p:nvSpPr>
        <p:spPr>
          <a:xfrm>
            <a:off x="949404" y="5622727"/>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HR</a:t>
            </a:r>
            <a:endParaRPr lang="en-US" sz="1150" dirty="0"/>
          </a:p>
        </p:txBody>
      </p:sp>
      <p:sp>
        <p:nvSpPr>
          <p:cNvPr id="86" name="Text 84"/>
          <p:cNvSpPr/>
          <p:nvPr/>
        </p:nvSpPr>
        <p:spPr>
          <a:xfrm>
            <a:off x="2814757" y="5622727"/>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Metric</a:t>
            </a:r>
            <a:endParaRPr lang="en-US" sz="1150" dirty="0"/>
          </a:p>
        </p:txBody>
      </p:sp>
      <p:sp>
        <p:nvSpPr>
          <p:cNvPr id="87" name="Text 85"/>
          <p:cNvSpPr/>
          <p:nvPr/>
        </p:nvSpPr>
        <p:spPr>
          <a:xfrm>
            <a:off x="4676299" y="5622727"/>
            <a:ext cx="1559123" cy="389096"/>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Hallucination specifically</a:t>
            </a:r>
            <a:endParaRPr lang="en-US" sz="1150" dirty="0"/>
          </a:p>
        </p:txBody>
      </p:sp>
      <p:sp>
        <p:nvSpPr>
          <p:cNvPr id="88" name="Text 86"/>
          <p:cNvSpPr/>
          <p:nvPr/>
        </p:nvSpPr>
        <p:spPr>
          <a:xfrm>
            <a:off x="6537841" y="5622727"/>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Error types</a:t>
            </a:r>
            <a:endParaRPr lang="en-US" sz="1150" dirty="0"/>
          </a:p>
        </p:txBody>
      </p:sp>
      <p:sp>
        <p:nvSpPr>
          <p:cNvPr id="89" name="Text 87"/>
          <p:cNvSpPr/>
          <p:nvPr/>
        </p:nvSpPr>
        <p:spPr>
          <a:xfrm>
            <a:off x="8399383" y="5622727"/>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Task-specific</a:t>
            </a:r>
            <a:endParaRPr lang="en-US" sz="1150" dirty="0"/>
          </a:p>
        </p:txBody>
      </p:sp>
      <p:sp>
        <p:nvSpPr>
          <p:cNvPr id="90" name="Text 88"/>
          <p:cNvSpPr/>
          <p:nvPr/>
        </p:nvSpPr>
        <p:spPr>
          <a:xfrm>
            <a:off x="10260925" y="5622727"/>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Single aspect</a:t>
            </a:r>
            <a:endParaRPr lang="en-US" sz="1150" dirty="0"/>
          </a:p>
        </p:txBody>
      </p:sp>
      <p:sp>
        <p:nvSpPr>
          <p:cNvPr id="91" name="Text 89"/>
          <p:cNvSpPr/>
          <p:nvPr/>
        </p:nvSpPr>
        <p:spPr>
          <a:xfrm>
            <a:off x="12122468" y="5622727"/>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Per-split analysis</a:t>
            </a:r>
            <a:endParaRPr lang="en-US" sz="1150" dirty="0"/>
          </a:p>
        </p:txBody>
      </p:sp>
      <p:sp>
        <p:nvSpPr>
          <p:cNvPr id="92" name="Shape 90"/>
          <p:cNvSpPr/>
          <p:nvPr/>
        </p:nvSpPr>
        <p:spPr>
          <a:xfrm>
            <a:off x="801410" y="6076831"/>
            <a:ext cx="13031391" cy="324564"/>
          </a:xfrm>
          <a:prstGeom prst="rect">
            <a:avLst/>
          </a:prstGeom>
          <a:solidFill>
            <a:srgbClr val="000000">
              <a:alpha val="4000"/>
            </a:srgbClr>
          </a:solidFill>
          <a:ln/>
        </p:spPr>
        <p:txBody>
          <a:bodyPr/>
          <a:lstStyle/>
          <a:p>
            <a:endParaRPr lang="en-PK"/>
          </a:p>
        </p:txBody>
      </p:sp>
      <p:sp>
        <p:nvSpPr>
          <p:cNvPr id="93" name="Text 91"/>
          <p:cNvSpPr/>
          <p:nvPr/>
        </p:nvSpPr>
        <p:spPr>
          <a:xfrm>
            <a:off x="949404" y="6141839"/>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LGS</a:t>
            </a:r>
            <a:endParaRPr lang="en-US" sz="1150" dirty="0"/>
          </a:p>
        </p:txBody>
      </p:sp>
      <p:sp>
        <p:nvSpPr>
          <p:cNvPr id="94" name="Text 92"/>
          <p:cNvSpPr/>
          <p:nvPr/>
        </p:nvSpPr>
        <p:spPr>
          <a:xfrm>
            <a:off x="2814757" y="614183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Metric</a:t>
            </a:r>
            <a:endParaRPr lang="en-US" sz="1150" dirty="0"/>
          </a:p>
        </p:txBody>
      </p:sp>
      <p:sp>
        <p:nvSpPr>
          <p:cNvPr id="95" name="Text 93"/>
          <p:cNvSpPr/>
          <p:nvPr/>
        </p:nvSpPr>
        <p:spPr>
          <a:xfrm>
            <a:off x="4676299" y="614183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Cross-lingual gap</a:t>
            </a:r>
            <a:endParaRPr lang="en-US" sz="1150" dirty="0"/>
          </a:p>
        </p:txBody>
      </p:sp>
      <p:sp>
        <p:nvSpPr>
          <p:cNvPr id="96" name="Text 94"/>
          <p:cNvSpPr/>
          <p:nvPr/>
        </p:nvSpPr>
        <p:spPr>
          <a:xfrm>
            <a:off x="6537841" y="614183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Type breakdown</a:t>
            </a:r>
            <a:endParaRPr lang="en-US" sz="1150" dirty="0"/>
          </a:p>
        </p:txBody>
      </p:sp>
      <p:sp>
        <p:nvSpPr>
          <p:cNvPr id="97" name="Text 95"/>
          <p:cNvSpPr/>
          <p:nvPr/>
        </p:nvSpPr>
        <p:spPr>
          <a:xfrm>
            <a:off x="8399383" y="614183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Novel, original</a:t>
            </a:r>
            <a:endParaRPr lang="en-US" sz="1150" dirty="0"/>
          </a:p>
        </p:txBody>
      </p:sp>
      <p:sp>
        <p:nvSpPr>
          <p:cNvPr id="98" name="Text 96"/>
          <p:cNvSpPr/>
          <p:nvPr/>
        </p:nvSpPr>
        <p:spPr>
          <a:xfrm>
            <a:off x="10260925" y="6141839"/>
            <a:ext cx="155912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Single number</a:t>
            </a:r>
            <a:endParaRPr lang="en-US" sz="1150" dirty="0"/>
          </a:p>
        </p:txBody>
      </p:sp>
      <p:sp>
        <p:nvSpPr>
          <p:cNvPr id="99" name="Text 97"/>
          <p:cNvSpPr/>
          <p:nvPr/>
        </p:nvSpPr>
        <p:spPr>
          <a:xfrm>
            <a:off x="12122468" y="6141839"/>
            <a:ext cx="1562933" cy="194548"/>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Headline result</a:t>
            </a:r>
            <a:endParaRPr lang="en-US" sz="1150" dirty="0"/>
          </a:p>
        </p:txBody>
      </p:sp>
      <p:sp>
        <p:nvSpPr>
          <p:cNvPr id="100" name="Text 98"/>
          <p:cNvSpPr/>
          <p:nvPr/>
        </p:nvSpPr>
        <p:spPr>
          <a:xfrm>
            <a:off x="793790" y="6516767"/>
            <a:ext cx="147399" cy="184190"/>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Light" pitchFamily="34" charset="0"/>
                <a:ea typeface="Syne Light" pitchFamily="34" charset="-122"/>
                <a:cs typeface="Syne Light" pitchFamily="34" charset="-120"/>
              </a:rPr>
              <a:t>01</a:t>
            </a:r>
            <a:endParaRPr lang="en-US" sz="1150" dirty="0"/>
          </a:p>
        </p:txBody>
      </p:sp>
      <p:sp>
        <p:nvSpPr>
          <p:cNvPr id="101" name="Shape 99"/>
          <p:cNvSpPr/>
          <p:nvPr/>
        </p:nvSpPr>
        <p:spPr>
          <a:xfrm>
            <a:off x="793790" y="6751915"/>
            <a:ext cx="4283750" cy="15240"/>
          </a:xfrm>
          <a:prstGeom prst="rect">
            <a:avLst/>
          </a:prstGeom>
          <a:solidFill>
            <a:srgbClr val="A9F00F"/>
          </a:solidFill>
          <a:ln/>
        </p:spPr>
        <p:txBody>
          <a:bodyPr/>
          <a:lstStyle/>
          <a:p>
            <a:endParaRPr lang="en-PK"/>
          </a:p>
        </p:txBody>
      </p:sp>
      <p:sp>
        <p:nvSpPr>
          <p:cNvPr id="102" name="Text 100"/>
          <p:cNvSpPr/>
          <p:nvPr/>
        </p:nvSpPr>
        <p:spPr>
          <a:xfrm>
            <a:off x="793790" y="6856095"/>
            <a:ext cx="4283750" cy="389096"/>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Our project requires loss functions and metrics from both CV and NLP because it operates at their intersection.</a:t>
            </a:r>
            <a:endParaRPr lang="en-US" sz="1150" dirty="0"/>
          </a:p>
        </p:txBody>
      </p:sp>
      <p:sp>
        <p:nvSpPr>
          <p:cNvPr id="103" name="Text 101"/>
          <p:cNvSpPr/>
          <p:nvPr/>
        </p:nvSpPr>
        <p:spPr>
          <a:xfrm>
            <a:off x="5173266" y="6516767"/>
            <a:ext cx="147399" cy="184190"/>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Light" pitchFamily="34" charset="0"/>
                <a:ea typeface="Syne Light" pitchFamily="34" charset="-122"/>
                <a:cs typeface="Syne Light" pitchFamily="34" charset="-120"/>
              </a:rPr>
              <a:t>02</a:t>
            </a:r>
            <a:endParaRPr lang="en-US" sz="1150" dirty="0"/>
          </a:p>
        </p:txBody>
      </p:sp>
      <p:sp>
        <p:nvSpPr>
          <p:cNvPr id="104" name="Shape 102"/>
          <p:cNvSpPr/>
          <p:nvPr/>
        </p:nvSpPr>
        <p:spPr>
          <a:xfrm>
            <a:off x="5173266" y="6751915"/>
            <a:ext cx="4283750" cy="15240"/>
          </a:xfrm>
          <a:prstGeom prst="rect">
            <a:avLst/>
          </a:prstGeom>
          <a:solidFill>
            <a:srgbClr val="A9F00F"/>
          </a:solidFill>
          <a:ln/>
        </p:spPr>
        <p:txBody>
          <a:bodyPr/>
          <a:lstStyle/>
          <a:p>
            <a:endParaRPr lang="en-PK"/>
          </a:p>
        </p:txBody>
      </p:sp>
      <p:sp>
        <p:nvSpPr>
          <p:cNvPr id="105" name="Text 103"/>
          <p:cNvSpPr/>
          <p:nvPr/>
        </p:nvSpPr>
        <p:spPr>
          <a:xfrm>
            <a:off x="5173266" y="6856095"/>
            <a:ext cx="4283750" cy="583644"/>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Token-level Cross-Entropy trains for fluency, our evaluation metrics measure factual accuracy. This mismatch motivates the CVAA module.</a:t>
            </a:r>
            <a:endParaRPr lang="en-US" sz="1150" dirty="0"/>
          </a:p>
        </p:txBody>
      </p:sp>
      <p:sp>
        <p:nvSpPr>
          <p:cNvPr id="106" name="Text 104"/>
          <p:cNvSpPr/>
          <p:nvPr/>
        </p:nvSpPr>
        <p:spPr>
          <a:xfrm>
            <a:off x="9552742" y="6516767"/>
            <a:ext cx="147399" cy="184190"/>
          </a:xfrm>
          <a:prstGeom prst="rect">
            <a:avLst/>
          </a:prstGeom>
          <a:noFill/>
          <a:ln/>
        </p:spPr>
        <p:txBody>
          <a:bodyPr wrap="none" lIns="0" tIns="0" rIns="0" bIns="0" rtlCol="0" anchor="t"/>
          <a:lstStyle/>
          <a:p>
            <a:pPr marL="0" indent="0" algn="l">
              <a:lnSpc>
                <a:spcPts val="1500"/>
              </a:lnSpc>
              <a:buNone/>
            </a:pPr>
            <a:r>
              <a:rPr lang="en-US" sz="1150" dirty="0">
                <a:solidFill>
                  <a:srgbClr val="D7E5D8"/>
                </a:solidFill>
                <a:latin typeface="Syne Light" pitchFamily="34" charset="0"/>
                <a:ea typeface="Syne Light" pitchFamily="34" charset="-122"/>
                <a:cs typeface="Syne Light" pitchFamily="34" charset="-120"/>
              </a:rPr>
              <a:t>03</a:t>
            </a:r>
            <a:endParaRPr lang="en-US" sz="1150" dirty="0"/>
          </a:p>
        </p:txBody>
      </p:sp>
      <p:sp>
        <p:nvSpPr>
          <p:cNvPr id="107" name="Shape 105"/>
          <p:cNvSpPr/>
          <p:nvPr/>
        </p:nvSpPr>
        <p:spPr>
          <a:xfrm>
            <a:off x="9552742" y="6751915"/>
            <a:ext cx="4283869" cy="15240"/>
          </a:xfrm>
          <a:prstGeom prst="rect">
            <a:avLst/>
          </a:prstGeom>
          <a:solidFill>
            <a:srgbClr val="A9F00F"/>
          </a:solidFill>
          <a:ln/>
        </p:spPr>
        <p:txBody>
          <a:bodyPr/>
          <a:lstStyle/>
          <a:p>
            <a:endParaRPr lang="en-PK"/>
          </a:p>
        </p:txBody>
      </p:sp>
      <p:sp>
        <p:nvSpPr>
          <p:cNvPr id="108" name="Text 106"/>
          <p:cNvSpPr/>
          <p:nvPr/>
        </p:nvSpPr>
        <p:spPr>
          <a:xfrm>
            <a:off x="9552742" y="6856095"/>
            <a:ext cx="4283869" cy="583644"/>
          </a:xfrm>
          <a:prstGeom prst="rect">
            <a:avLst/>
          </a:prstGeom>
          <a:noFill/>
          <a:ln/>
        </p:spPr>
        <p:txBody>
          <a:bodyPr wrap="square" lIns="0" tIns="0" rIns="0" bIns="0" rtlCol="0" anchor="t"/>
          <a:lstStyle/>
          <a:p>
            <a:pPr marL="0" indent="0" algn="l">
              <a:lnSpc>
                <a:spcPts val="1500"/>
              </a:lnSpc>
              <a:buNone/>
            </a:pPr>
            <a:r>
              <a:rPr lang="en-US" sz="1150" dirty="0">
                <a:solidFill>
                  <a:srgbClr val="D7E5D8"/>
                </a:solidFill>
                <a:latin typeface="Syne" pitchFamily="34" charset="0"/>
                <a:ea typeface="Syne" pitchFamily="34" charset="-122"/>
                <a:cs typeface="Syne" pitchFamily="34" charset="-120"/>
              </a:rPr>
              <a:t>Our primary evaluation metrics are F1, Hallucination Rate, and Language Gap Score, the last being a novel metric not found in any existing survey.</a:t>
            </a:r>
            <a:endParaRPr lang="en-US" sz="1150" dirty="0"/>
          </a:p>
        </p:txBody>
      </p:sp>
      <p:sp>
        <p:nvSpPr>
          <p:cNvPr id="109" name="Rectangle 108">
            <a:extLst>
              <a:ext uri="{FF2B5EF4-FFF2-40B4-BE49-F238E27FC236}">
                <a16:creationId xmlns:a16="http://schemas.microsoft.com/office/drawing/2014/main" id="{06B156E8-AF0D-C196-B0E4-DCC1A65EBF3B}"/>
              </a:ext>
            </a:extLst>
          </p:cNvPr>
          <p:cNvSpPr/>
          <p:nvPr/>
        </p:nvSpPr>
        <p:spPr>
          <a:xfrm>
            <a:off x="11978521" y="7300436"/>
            <a:ext cx="2573820" cy="877990"/>
          </a:xfrm>
          <a:prstGeom prst="rect">
            <a:avLst/>
          </a:prstGeom>
          <a:solidFill>
            <a:srgbClr val="141E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1411</Words>
  <Application>Microsoft Office PowerPoint</Application>
  <PresentationFormat>Custom</PresentationFormat>
  <Paragraphs>251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Syne Extra Bold</vt:lpstr>
      <vt:lpstr>Syne</vt:lpstr>
      <vt:lpstr>Syne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Ibrahim Johar</dc:creator>
  <cp:lastModifiedBy>Ibrahim Johar Farooqi</cp:lastModifiedBy>
  <cp:revision>3</cp:revision>
  <dcterms:created xsi:type="dcterms:W3CDTF">2026-03-29T16:13:41Z</dcterms:created>
  <dcterms:modified xsi:type="dcterms:W3CDTF">2026-03-29T16:17:45Z</dcterms:modified>
</cp:coreProperties>
</file>